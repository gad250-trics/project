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35" autoAdjust="0"/>
    <p:restoredTop sz="94660"/>
  </p:normalViewPr>
  <p:slideViewPr>
    <p:cSldViewPr snapToGrid="0">
      <p:cViewPr varScale="1">
        <p:scale>
          <a:sx n="56" d="100"/>
          <a:sy n="56" d="100"/>
        </p:scale>
        <p:origin x="996"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A4F9-06A7-0DBE-399F-B39F4D5977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5E0E36-60C5-9590-87D9-CB1A677ECB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049581-C4A4-34EC-378B-A75BA7FADF6F}"/>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5" name="Footer Placeholder 4">
            <a:extLst>
              <a:ext uri="{FF2B5EF4-FFF2-40B4-BE49-F238E27FC236}">
                <a16:creationId xmlns:a16="http://schemas.microsoft.com/office/drawing/2014/main" id="{317B3128-9596-6627-60A5-5D1F21AB2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9B1361-7C8A-5E7A-7B7C-524E9EB35D1E}"/>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3465167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EAABF-EDE9-BD32-E9FF-0F1251D310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0403B9-8473-B768-B66D-8A3824C7EE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EBED6A-93EF-A479-21E5-918AD38483B2}"/>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5" name="Footer Placeholder 4">
            <a:extLst>
              <a:ext uri="{FF2B5EF4-FFF2-40B4-BE49-F238E27FC236}">
                <a16:creationId xmlns:a16="http://schemas.microsoft.com/office/drawing/2014/main" id="{76C767B0-CEC2-3DF4-2721-6125BBEC9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ED3249-2FE4-1653-5EE3-99A1DD3EE073}"/>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1562915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0DBF1-3EEB-4945-FB0E-850AF84477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428706-C7AB-871C-0A9E-A02009253DA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2021A8-C363-59EA-3961-7E3397F9063E}"/>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5" name="Footer Placeholder 4">
            <a:extLst>
              <a:ext uri="{FF2B5EF4-FFF2-40B4-BE49-F238E27FC236}">
                <a16:creationId xmlns:a16="http://schemas.microsoft.com/office/drawing/2014/main" id="{4EE42A7A-7B06-E23B-4AC8-BBBE483D85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05C63-2365-4997-1F67-9041EA2DBE2A}"/>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63055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91B39-6363-B17A-6D69-749C21828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DC161C-F660-3347-DC54-4219045B59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8FC204-91A2-D87F-8634-30EEDAD177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9BC171-4F68-75C5-72C0-18868B890E39}"/>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6" name="Footer Placeholder 5">
            <a:extLst>
              <a:ext uri="{FF2B5EF4-FFF2-40B4-BE49-F238E27FC236}">
                <a16:creationId xmlns:a16="http://schemas.microsoft.com/office/drawing/2014/main" id="{3CFBBD55-4814-E22B-13D4-5D35C3111B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5908A7-2684-A3AD-7FAE-7AAC96034646}"/>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1713710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3088B-6135-C686-03CA-D7AB2C6083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DE7F499-F497-6BBE-3921-78A4344909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5301EF-EE7D-FBB6-C3B7-569BA1531A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ECC869-FED8-3C31-B1C3-79CBF753A8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2AA791-F727-2143-3B9A-B5F4502F61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D00616-801F-1453-2627-237DFD09530C}"/>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8" name="Footer Placeholder 7">
            <a:extLst>
              <a:ext uri="{FF2B5EF4-FFF2-40B4-BE49-F238E27FC236}">
                <a16:creationId xmlns:a16="http://schemas.microsoft.com/office/drawing/2014/main" id="{568E5A44-874B-75B1-B7A4-0DEBCC5DFD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1DAA94-4439-3CE0-4C63-E93070E00885}"/>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1714629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529F3-E46A-0E99-9664-8A2FA1442C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C25CEF-707F-4504-C96A-2F654C5694BF}"/>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4" name="Footer Placeholder 3">
            <a:extLst>
              <a:ext uri="{FF2B5EF4-FFF2-40B4-BE49-F238E27FC236}">
                <a16:creationId xmlns:a16="http://schemas.microsoft.com/office/drawing/2014/main" id="{C64D2DB3-2FD3-9FED-CB67-09274C0DCEE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EB5197-7545-29FB-E2D8-CBFC0CB49F3D}"/>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2133461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0F86A9-5223-7311-EFFA-B909A87D1F6F}"/>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3" name="Footer Placeholder 2">
            <a:extLst>
              <a:ext uri="{FF2B5EF4-FFF2-40B4-BE49-F238E27FC236}">
                <a16:creationId xmlns:a16="http://schemas.microsoft.com/office/drawing/2014/main" id="{8ACD372C-55CC-3C3E-DAD4-4D5AEFA636B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3439DF-220B-D0A3-D752-ABAEB4D91DB0}"/>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3870651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D07A5-40F8-3D00-B6F4-D56E8759B6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CF3765-0085-3120-AC93-17F559A39E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1BD9BD-A2A0-0819-B168-C2B3FB9C0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BE9861-DADA-A065-0B6B-18F5D40D4DA1}"/>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6" name="Footer Placeholder 5">
            <a:extLst>
              <a:ext uri="{FF2B5EF4-FFF2-40B4-BE49-F238E27FC236}">
                <a16:creationId xmlns:a16="http://schemas.microsoft.com/office/drawing/2014/main" id="{BBC1489E-FF76-4B64-DB93-D33B141533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7041A9-473B-29B0-A865-A73C6DDE5997}"/>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2883191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74C3D-AF29-1A60-6275-A8C78B9190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9E821F-6ED3-6290-257B-70FC497284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EE0B2E-CCAE-A39B-4CD3-7D76B97916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23D04C-46BB-B5E1-5EEE-93DC4E373585}"/>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6" name="Footer Placeholder 5">
            <a:extLst>
              <a:ext uri="{FF2B5EF4-FFF2-40B4-BE49-F238E27FC236}">
                <a16:creationId xmlns:a16="http://schemas.microsoft.com/office/drawing/2014/main" id="{F5FEE715-12DF-81B5-0800-B43C882369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56AE84-D769-35A8-8E98-51EDCDEBCCF0}"/>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2577256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A7D7B-C66B-544A-FF5D-A3DEA301E7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155C2A-E4A9-589A-1AA5-CD6D6581DC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51CAD6-2FA1-BD78-1E04-62FE983B0D30}"/>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5" name="Footer Placeholder 4">
            <a:extLst>
              <a:ext uri="{FF2B5EF4-FFF2-40B4-BE49-F238E27FC236}">
                <a16:creationId xmlns:a16="http://schemas.microsoft.com/office/drawing/2014/main" id="{360218CF-7EF4-9F8C-8665-3F112D548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5069B1-C27C-6DB2-D9B5-C6CCEDA86329}"/>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1752692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BD903A-6E5E-C3EB-3F45-5105ACD23F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10DB71-20F8-AA77-D007-05B3FB0393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A2BC85-42BF-44F0-1194-6089E3F957D6}"/>
              </a:ext>
            </a:extLst>
          </p:cNvPr>
          <p:cNvSpPr>
            <a:spLocks noGrp="1"/>
          </p:cNvSpPr>
          <p:nvPr>
            <p:ph type="dt" sz="half" idx="10"/>
          </p:nvPr>
        </p:nvSpPr>
        <p:spPr/>
        <p:txBody>
          <a:bodyPr/>
          <a:lstStyle/>
          <a:p>
            <a:fld id="{7CECF84B-8E12-483B-998D-45793AF7B989}" type="datetimeFigureOut">
              <a:rPr lang="en-US" smtClean="0"/>
              <a:t>3/5/2026</a:t>
            </a:fld>
            <a:endParaRPr lang="en-US"/>
          </a:p>
        </p:txBody>
      </p:sp>
      <p:sp>
        <p:nvSpPr>
          <p:cNvPr id="5" name="Footer Placeholder 4">
            <a:extLst>
              <a:ext uri="{FF2B5EF4-FFF2-40B4-BE49-F238E27FC236}">
                <a16:creationId xmlns:a16="http://schemas.microsoft.com/office/drawing/2014/main" id="{35426A23-A337-4DBD-0F6A-D901C8DE37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13AF02-749E-1807-6F4B-5A02DFEE877B}"/>
              </a:ext>
            </a:extLst>
          </p:cNvPr>
          <p:cNvSpPr>
            <a:spLocks noGrp="1"/>
          </p:cNvSpPr>
          <p:nvPr>
            <p:ph type="sldNum" sz="quarter" idx="12"/>
          </p:nvPr>
        </p:nvSpPr>
        <p:spPr/>
        <p:txBody>
          <a:bodyPr/>
          <a:lstStyle/>
          <a:p>
            <a:fld id="{923E607E-9479-451A-A374-17B78EAE323B}" type="slidenum">
              <a:rPr lang="en-US" smtClean="0"/>
              <a:t>‹#›</a:t>
            </a:fld>
            <a:endParaRPr lang="en-US"/>
          </a:p>
        </p:txBody>
      </p:sp>
    </p:spTree>
    <p:extLst>
      <p:ext uri="{BB962C8B-B14F-4D97-AF65-F5344CB8AC3E}">
        <p14:creationId xmlns:p14="http://schemas.microsoft.com/office/powerpoint/2010/main" val="1480868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2710AE-D2B2-A2E4-20C6-C4199D1B43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4E73145-BD30-BE1E-9DA3-28C0CE2811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84BD6F-E00B-401E-A51D-AEEFAF59C3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ECF84B-8E12-483B-998D-45793AF7B989}" type="datetimeFigureOut">
              <a:rPr lang="en-US" smtClean="0"/>
              <a:t>3/5/2026</a:t>
            </a:fld>
            <a:endParaRPr lang="en-US"/>
          </a:p>
        </p:txBody>
      </p:sp>
      <p:sp>
        <p:nvSpPr>
          <p:cNvPr id="5" name="Footer Placeholder 4">
            <a:extLst>
              <a:ext uri="{FF2B5EF4-FFF2-40B4-BE49-F238E27FC236}">
                <a16:creationId xmlns:a16="http://schemas.microsoft.com/office/drawing/2014/main" id="{62B2061A-5768-C71E-3ADB-681D556270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A9C7FE-6DE9-7425-9B5B-3147851C19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3E607E-9479-451A-A374-17B78EAE323B}" type="slidenum">
              <a:rPr lang="en-US" smtClean="0"/>
              <a:t>‹#›</a:t>
            </a:fld>
            <a:endParaRPr lang="en-US"/>
          </a:p>
        </p:txBody>
      </p:sp>
    </p:spTree>
    <p:extLst>
      <p:ext uri="{BB962C8B-B14F-4D97-AF65-F5344CB8AC3E}">
        <p14:creationId xmlns:p14="http://schemas.microsoft.com/office/powerpoint/2010/main" val="1955643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C2BEC-E938-01ED-B72F-4B0465B6F09D}"/>
              </a:ext>
            </a:extLst>
          </p:cNvPr>
          <p:cNvSpPr>
            <a:spLocks noGrp="1"/>
          </p:cNvSpPr>
          <p:nvPr>
            <p:ph type="ctrTitle"/>
          </p:nvPr>
        </p:nvSpPr>
        <p:spPr>
          <a:xfrm>
            <a:off x="697230" y="1280159"/>
            <a:ext cx="9970770" cy="2229803"/>
          </a:xfrm>
        </p:spPr>
        <p:txBody>
          <a:bodyPr/>
          <a:lstStyle/>
          <a:p>
            <a:r>
              <a:rPr lang="en-US" b="1" dirty="0"/>
              <a:t>SWDVF301: Vue.js Framework</a:t>
            </a:r>
          </a:p>
        </p:txBody>
      </p:sp>
    </p:spTree>
    <p:extLst>
      <p:ext uri="{BB962C8B-B14F-4D97-AF65-F5344CB8AC3E}">
        <p14:creationId xmlns:p14="http://schemas.microsoft.com/office/powerpoint/2010/main" val="4287710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D8F5C-9C0D-3648-AD60-638E6842F7C7}"/>
              </a:ext>
            </a:extLst>
          </p:cNvPr>
          <p:cNvSpPr>
            <a:spLocks noGrp="1"/>
          </p:cNvSpPr>
          <p:nvPr>
            <p:ph type="title"/>
          </p:nvPr>
        </p:nvSpPr>
        <p:spPr>
          <a:xfrm>
            <a:off x="838200" y="365125"/>
            <a:ext cx="10515600" cy="995045"/>
          </a:xfrm>
        </p:spPr>
        <p:txBody>
          <a:bodyPr/>
          <a:lstStyle/>
          <a:p>
            <a:r>
              <a:rPr lang="en-US" sz="2800" b="1" dirty="0">
                <a:latin typeface="+mn-lt"/>
                <a:ea typeface="+mn-ea"/>
                <a:cs typeface="+mn-cs"/>
              </a:rPr>
              <a:t>Learning Outcome 1: Set Up Environment </a:t>
            </a:r>
          </a:p>
        </p:txBody>
      </p:sp>
      <p:sp>
        <p:nvSpPr>
          <p:cNvPr id="3" name="Content Placeholder 2">
            <a:extLst>
              <a:ext uri="{FF2B5EF4-FFF2-40B4-BE49-F238E27FC236}">
                <a16:creationId xmlns:a16="http://schemas.microsoft.com/office/drawing/2014/main" id="{5C256F64-CBDA-4058-D4F4-BF29B4484286}"/>
              </a:ext>
            </a:extLst>
          </p:cNvPr>
          <p:cNvSpPr>
            <a:spLocks noGrp="1"/>
          </p:cNvSpPr>
          <p:nvPr>
            <p:ph idx="1"/>
          </p:nvPr>
        </p:nvSpPr>
        <p:spPr>
          <a:xfrm>
            <a:off x="963930" y="1360169"/>
            <a:ext cx="10831830" cy="5132705"/>
          </a:xfrm>
        </p:spPr>
        <p:txBody>
          <a:bodyPr/>
          <a:lstStyle/>
          <a:p>
            <a:pPr marL="0" indent="0">
              <a:buNone/>
            </a:pPr>
            <a:r>
              <a:rPr lang="en-US" b="1" dirty="0"/>
              <a:t>Indicative content 1.1: Description of Key Concepts </a:t>
            </a:r>
          </a:p>
          <a:p>
            <a:pPr marL="0" indent="0">
              <a:buNone/>
            </a:pPr>
            <a:r>
              <a:rPr lang="en-US" b="1" dirty="0"/>
              <a:t>1.1.1: Explanation of the key concepts related to Vue </a:t>
            </a:r>
            <a:r>
              <a:rPr lang="en-US" b="1" dirty="0" err="1"/>
              <a:t>js</a:t>
            </a:r>
            <a:r>
              <a:rPr lang="en-US" b="1" dirty="0"/>
              <a:t> Framework. </a:t>
            </a:r>
          </a:p>
          <a:p>
            <a:pPr marL="0" indent="0">
              <a:lnSpc>
                <a:spcPct val="150000"/>
              </a:lnSpc>
              <a:buNone/>
            </a:pPr>
            <a:r>
              <a:rPr lang="en-US" b="1" dirty="0"/>
              <a:t>CLI stands for Command Line Interface:</a:t>
            </a:r>
            <a:r>
              <a:rPr lang="en-US" dirty="0"/>
              <a:t> It is a text-based interface that allows users to interact with a computer program or operating system by entering commands. Instead of using a graphical user interface (GUI) with windows, icons, and menus, a CLI relies on typed commands and text-based responses.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06607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68B93C-FF43-2F36-2D9D-DBD58E289FBC}"/>
              </a:ext>
            </a:extLst>
          </p:cNvPr>
          <p:cNvSpPr>
            <a:spLocks noGrp="1"/>
          </p:cNvSpPr>
          <p:nvPr>
            <p:ph idx="1"/>
          </p:nvPr>
        </p:nvSpPr>
        <p:spPr>
          <a:xfrm>
            <a:off x="594360" y="422910"/>
            <a:ext cx="11029950" cy="5966460"/>
          </a:xfrm>
        </p:spPr>
        <p:txBody>
          <a:bodyPr>
            <a:normAutofit lnSpcReduction="10000"/>
          </a:bodyPr>
          <a:lstStyle/>
          <a:p>
            <a:pPr marL="0" indent="0">
              <a:lnSpc>
                <a:spcPct val="150000"/>
              </a:lnSpc>
              <a:buNone/>
            </a:pPr>
            <a:r>
              <a:rPr lang="en-US" b="1" dirty="0"/>
              <a:t>Examples: </a:t>
            </a:r>
          </a:p>
          <a:p>
            <a:pPr marL="0" indent="0">
              <a:lnSpc>
                <a:spcPct val="150000"/>
              </a:lnSpc>
              <a:buNone/>
            </a:pPr>
            <a:r>
              <a:rPr lang="en-US" dirty="0"/>
              <a:t>1. </a:t>
            </a:r>
            <a:r>
              <a:rPr lang="en-US" b="1" dirty="0"/>
              <a:t>Vue CLI: </a:t>
            </a:r>
            <a:r>
              <a:rPr lang="en-US" dirty="0"/>
              <a:t>Vue CLI is a command-line tool specifically designed for Vue.js applications. It helps developers scaffold new projects, manage dependencies, run development servers, build production-ready bundles, and more. 	</a:t>
            </a:r>
          </a:p>
          <a:p>
            <a:pPr marL="0" indent="0">
              <a:lnSpc>
                <a:spcPct val="150000"/>
              </a:lnSpc>
              <a:buNone/>
            </a:pPr>
            <a:r>
              <a:rPr lang="en-US" dirty="0"/>
              <a:t>2. </a:t>
            </a:r>
            <a:r>
              <a:rPr lang="en-US" b="1" dirty="0"/>
              <a:t>Angular CLI: </a:t>
            </a:r>
            <a:r>
              <a:rPr lang="en-US" dirty="0"/>
              <a:t>Angular CLI is a command-line interface for developing Angular applications. It offers a set of commands to generate components, services, modules, and other Angular-specific entities. It also provides features for testing, building, and serving Angular projects.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64250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02C79F-5CB7-9379-206B-C384FBD4FA69}"/>
              </a:ext>
            </a:extLst>
          </p:cNvPr>
          <p:cNvSpPr>
            <a:spLocks noGrp="1"/>
          </p:cNvSpPr>
          <p:nvPr>
            <p:ph idx="1"/>
          </p:nvPr>
        </p:nvSpPr>
        <p:spPr>
          <a:xfrm>
            <a:off x="537210" y="617220"/>
            <a:ext cx="11292840" cy="5806440"/>
          </a:xfrm>
        </p:spPr>
        <p:txBody>
          <a:bodyPr>
            <a:normAutofit/>
          </a:bodyPr>
          <a:lstStyle/>
          <a:p>
            <a:pPr marL="0" indent="0">
              <a:lnSpc>
                <a:spcPct val="150000"/>
              </a:lnSpc>
              <a:buNone/>
            </a:pPr>
            <a:r>
              <a:rPr lang="en-US" dirty="0"/>
              <a:t>3. </a:t>
            </a:r>
            <a:r>
              <a:rPr lang="en-US" b="1" dirty="0"/>
              <a:t>Create React App: </a:t>
            </a:r>
            <a:r>
              <a:rPr lang="en-US" dirty="0"/>
              <a:t>Create React App is a popular command-line tool used for quickly setting up React applications. It allows developers to start building React apps without manually configuring build tools. </a:t>
            </a:r>
          </a:p>
          <a:p>
            <a:pPr marL="0" indent="0">
              <a:lnSpc>
                <a:spcPct val="150000"/>
              </a:lnSpc>
              <a:buNone/>
            </a:pPr>
            <a:r>
              <a:rPr lang="en-US" dirty="0"/>
              <a:t>4. </a:t>
            </a:r>
            <a:r>
              <a:rPr lang="en-US" b="1" dirty="0"/>
              <a:t>Git </a:t>
            </a:r>
            <a:r>
              <a:rPr lang="en-US" b="1" dirty="0" err="1"/>
              <a:t>cmd</a:t>
            </a:r>
            <a:r>
              <a:rPr lang="en-US" b="1" dirty="0"/>
              <a:t>: </a:t>
            </a:r>
            <a:r>
              <a:rPr lang="en-US" dirty="0"/>
              <a:t>Git, a widely used version control system, is primarily operated through the command line. Developers use commands like git </a:t>
            </a:r>
            <a:r>
              <a:rPr lang="en-US" dirty="0" err="1"/>
              <a:t>init</a:t>
            </a:r>
            <a:r>
              <a:rPr lang="en-US" dirty="0"/>
              <a:t>, git add, git commit, and git push to manage and collaborate on code repositories. 	</a:t>
            </a:r>
          </a:p>
          <a:p>
            <a:pPr marL="0" indent="0">
              <a:buNone/>
            </a:pPr>
            <a:r>
              <a:rPr lang="en-US" dirty="0"/>
              <a:t>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332392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B4FA3B-D63F-EB6B-A035-82A983457607}"/>
              </a:ext>
            </a:extLst>
          </p:cNvPr>
          <p:cNvSpPr>
            <a:spLocks noGrp="1"/>
          </p:cNvSpPr>
          <p:nvPr>
            <p:ph idx="1"/>
          </p:nvPr>
        </p:nvSpPr>
        <p:spPr>
          <a:xfrm>
            <a:off x="605790" y="662940"/>
            <a:ext cx="11075670" cy="5909310"/>
          </a:xfrm>
        </p:spPr>
        <p:txBody>
          <a:bodyPr>
            <a:normAutofit fontScale="92500" lnSpcReduction="10000"/>
          </a:bodyPr>
          <a:lstStyle/>
          <a:p>
            <a:pPr marL="0" indent="0">
              <a:buNone/>
            </a:pPr>
            <a:r>
              <a:rPr lang="en-US" b="1" dirty="0"/>
              <a:t>Basic commands </a:t>
            </a:r>
            <a:endParaRPr lang="en-US" dirty="0"/>
          </a:p>
          <a:p>
            <a:pPr>
              <a:lnSpc>
                <a:spcPct val="150000"/>
              </a:lnSpc>
            </a:pPr>
            <a:r>
              <a:rPr lang="en-US" b="1" dirty="0"/>
              <a:t>cd: </a:t>
            </a:r>
            <a:r>
              <a:rPr lang="en-US" dirty="0"/>
              <a:t>Changes the current directory. </a:t>
            </a:r>
          </a:p>
          <a:p>
            <a:pPr>
              <a:lnSpc>
                <a:spcPct val="150000"/>
              </a:lnSpc>
            </a:pPr>
            <a:r>
              <a:rPr lang="en-US" b="1" dirty="0" err="1"/>
              <a:t>dir</a:t>
            </a:r>
            <a:r>
              <a:rPr lang="en-US" b="1" dirty="0"/>
              <a:t>: </a:t>
            </a:r>
            <a:r>
              <a:rPr lang="en-US" dirty="0"/>
              <a:t>Lists files and directories in the current directory. </a:t>
            </a:r>
          </a:p>
          <a:p>
            <a:pPr>
              <a:lnSpc>
                <a:spcPct val="150000"/>
              </a:lnSpc>
            </a:pPr>
            <a:r>
              <a:rPr lang="en-US" b="1" dirty="0" err="1"/>
              <a:t>mkdir</a:t>
            </a:r>
            <a:r>
              <a:rPr lang="en-US" b="1" dirty="0"/>
              <a:t>: </a:t>
            </a:r>
            <a:r>
              <a:rPr lang="en-US" dirty="0"/>
              <a:t>Creates a new directory. </a:t>
            </a:r>
          </a:p>
          <a:p>
            <a:pPr>
              <a:lnSpc>
                <a:spcPct val="150000"/>
              </a:lnSpc>
            </a:pPr>
            <a:r>
              <a:rPr lang="en-US" b="1" dirty="0" err="1"/>
              <a:t>rmdir</a:t>
            </a:r>
            <a:r>
              <a:rPr lang="en-US" b="1" dirty="0"/>
              <a:t>: </a:t>
            </a:r>
            <a:r>
              <a:rPr lang="en-US" dirty="0"/>
              <a:t>Removes an empty directory. </a:t>
            </a:r>
          </a:p>
          <a:p>
            <a:pPr>
              <a:lnSpc>
                <a:spcPct val="150000"/>
              </a:lnSpc>
            </a:pPr>
            <a:r>
              <a:rPr lang="en-US" b="1" dirty="0"/>
              <a:t>del: </a:t>
            </a:r>
            <a:r>
              <a:rPr lang="en-US" dirty="0"/>
              <a:t>Deletes a file. </a:t>
            </a:r>
          </a:p>
          <a:p>
            <a:pPr>
              <a:lnSpc>
                <a:spcPct val="150000"/>
              </a:lnSpc>
            </a:pPr>
            <a:r>
              <a:rPr lang="en-US" b="1" dirty="0"/>
              <a:t>copy: </a:t>
            </a:r>
            <a:r>
              <a:rPr lang="en-US" dirty="0"/>
              <a:t>Copies files and directories. </a:t>
            </a:r>
          </a:p>
          <a:p>
            <a:pPr>
              <a:lnSpc>
                <a:spcPct val="150000"/>
              </a:lnSpc>
            </a:pPr>
            <a:r>
              <a:rPr lang="en-US" b="1" dirty="0"/>
              <a:t>move: </a:t>
            </a:r>
            <a:r>
              <a:rPr lang="en-US" dirty="0"/>
              <a:t>Moves files and directories. </a:t>
            </a:r>
          </a:p>
          <a:p>
            <a:pPr>
              <a:lnSpc>
                <a:spcPct val="150000"/>
              </a:lnSpc>
            </a:pPr>
            <a:r>
              <a:rPr lang="en-US" b="1" dirty="0"/>
              <a:t>ren: </a:t>
            </a:r>
            <a:r>
              <a:rPr lang="en-US" dirty="0"/>
              <a:t>Renames a file or directory 	</a:t>
            </a:r>
          </a:p>
          <a:p>
            <a:pPr marL="0" indent="0">
              <a:buNone/>
            </a:pPr>
            <a:endParaRPr lang="en-US" dirty="0"/>
          </a:p>
        </p:txBody>
      </p:sp>
    </p:spTree>
    <p:extLst>
      <p:ext uri="{BB962C8B-B14F-4D97-AF65-F5344CB8AC3E}">
        <p14:creationId xmlns:p14="http://schemas.microsoft.com/office/powerpoint/2010/main" val="22941093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3963E8-60C0-E16B-6AC6-0521D3249D79}"/>
              </a:ext>
            </a:extLst>
          </p:cNvPr>
          <p:cNvSpPr>
            <a:spLocks noGrp="1"/>
          </p:cNvSpPr>
          <p:nvPr>
            <p:ph idx="1"/>
          </p:nvPr>
        </p:nvSpPr>
        <p:spPr>
          <a:xfrm>
            <a:off x="697230" y="697230"/>
            <a:ext cx="11098530" cy="5760720"/>
          </a:xfrm>
        </p:spPr>
        <p:txBody>
          <a:bodyPr>
            <a:normAutofit/>
          </a:bodyPr>
          <a:lstStyle/>
          <a:p>
            <a:pPr marL="0" indent="0">
              <a:lnSpc>
                <a:spcPct val="150000"/>
              </a:lnSpc>
              <a:buNone/>
            </a:pPr>
            <a:r>
              <a:rPr lang="en-US" b="1" dirty="0"/>
              <a:t>Using a CLI provides several benefits for developers, such as: </a:t>
            </a:r>
            <a:r>
              <a:rPr lang="en-US" dirty="0"/>
              <a:t>	</a:t>
            </a:r>
          </a:p>
          <a:p>
            <a:pPr marL="0" indent="0">
              <a:lnSpc>
                <a:spcPct val="150000"/>
              </a:lnSpc>
              <a:buNone/>
            </a:pPr>
            <a:r>
              <a:rPr lang="en-US" b="1" dirty="0"/>
              <a:t>1. Efficiency: </a:t>
            </a:r>
            <a:r>
              <a:rPr lang="en-US" dirty="0"/>
              <a:t>CLI tools often offer shortcuts and automation, allowing developers to perform repetitive tasks more efficiently. </a:t>
            </a:r>
          </a:p>
          <a:p>
            <a:pPr marL="0" indent="0">
              <a:lnSpc>
                <a:spcPct val="150000"/>
              </a:lnSpc>
              <a:buNone/>
            </a:pPr>
            <a:r>
              <a:rPr lang="en-US" b="1" dirty="0"/>
              <a:t>2. Scripting and Automation: </a:t>
            </a:r>
            <a:r>
              <a:rPr lang="en-US" dirty="0"/>
              <a:t>CLI commands can be scripted and combined to automate complex workflows and build processes. </a:t>
            </a:r>
          </a:p>
          <a:p>
            <a:pPr marL="0" indent="0">
              <a:lnSpc>
                <a:spcPct val="150000"/>
              </a:lnSpc>
              <a:buNone/>
            </a:pPr>
            <a:r>
              <a:rPr lang="en-US" dirty="0"/>
              <a:t>3. Flexibility: Command-line interfaces are generally platform-independent and can be used on various operating systems, making them accessible to a wide range of developers. 		</a:t>
            </a:r>
          </a:p>
          <a:p>
            <a:pPr marL="0" indent="0">
              <a:buNone/>
            </a:pPr>
            <a:endParaRPr lang="en-US" dirty="0"/>
          </a:p>
        </p:txBody>
      </p:sp>
    </p:spTree>
    <p:extLst>
      <p:ext uri="{BB962C8B-B14F-4D97-AF65-F5344CB8AC3E}">
        <p14:creationId xmlns:p14="http://schemas.microsoft.com/office/powerpoint/2010/main" val="2576288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E8F9DC-153A-C7EE-4A06-CA49A51D4E72}"/>
              </a:ext>
            </a:extLst>
          </p:cNvPr>
          <p:cNvSpPr>
            <a:spLocks noGrp="1"/>
          </p:cNvSpPr>
          <p:nvPr>
            <p:ph idx="1"/>
          </p:nvPr>
        </p:nvSpPr>
        <p:spPr>
          <a:xfrm>
            <a:off x="605790" y="651510"/>
            <a:ext cx="10748010" cy="5525453"/>
          </a:xfrm>
        </p:spPr>
        <p:txBody>
          <a:bodyPr/>
          <a:lstStyle/>
          <a:p>
            <a:pPr marL="0" indent="0">
              <a:lnSpc>
                <a:spcPct val="150000"/>
              </a:lnSpc>
              <a:buNone/>
            </a:pPr>
            <a:r>
              <a:rPr lang="en-US" dirty="0"/>
              <a:t>4. </a:t>
            </a:r>
            <a:r>
              <a:rPr lang="en-US" b="1" dirty="0"/>
              <a:t>Control and Precision: </a:t>
            </a:r>
            <a:r>
              <a:rPr lang="en-US" dirty="0"/>
              <a:t>CLI tools provide fine-grained control over configurations and options, allowing developers to customize their environment and workflows to their specific needs. 	</a:t>
            </a:r>
          </a:p>
          <a:p>
            <a:pPr>
              <a:lnSpc>
                <a:spcPct val="150000"/>
              </a:lnSpc>
            </a:pPr>
            <a:r>
              <a:rPr lang="en-US" b="1" dirty="0"/>
              <a:t>IDE </a:t>
            </a:r>
            <a:endParaRPr lang="en-US" dirty="0"/>
          </a:p>
          <a:p>
            <a:pPr marL="0" indent="0">
              <a:lnSpc>
                <a:spcPct val="150000"/>
              </a:lnSpc>
              <a:buNone/>
            </a:pPr>
            <a:r>
              <a:rPr lang="en-US" dirty="0"/>
              <a:t>IDE stands for Integrated Development Environment. It is a software application that provides comprehensive tools and features to facilitate software development. 	</a:t>
            </a:r>
          </a:p>
          <a:p>
            <a:pPr marL="0" indent="0">
              <a:buNone/>
            </a:pPr>
            <a:endParaRPr lang="en-US" dirty="0"/>
          </a:p>
        </p:txBody>
      </p:sp>
    </p:spTree>
    <p:extLst>
      <p:ext uri="{BB962C8B-B14F-4D97-AF65-F5344CB8AC3E}">
        <p14:creationId xmlns:p14="http://schemas.microsoft.com/office/powerpoint/2010/main" val="1504954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9B13DD-589E-99A5-1189-BFCCDEAD7474}"/>
              </a:ext>
            </a:extLst>
          </p:cNvPr>
          <p:cNvSpPr>
            <a:spLocks noGrp="1"/>
          </p:cNvSpPr>
          <p:nvPr>
            <p:ph idx="1"/>
          </p:nvPr>
        </p:nvSpPr>
        <p:spPr>
          <a:xfrm>
            <a:off x="754380" y="377190"/>
            <a:ext cx="11029950" cy="5829300"/>
          </a:xfrm>
        </p:spPr>
        <p:txBody>
          <a:bodyPr>
            <a:normAutofit lnSpcReduction="10000"/>
          </a:bodyPr>
          <a:lstStyle/>
          <a:p>
            <a:pPr marL="0" indent="0">
              <a:lnSpc>
                <a:spcPct val="150000"/>
              </a:lnSpc>
              <a:buNone/>
            </a:pPr>
            <a:r>
              <a:rPr lang="en-US" b="1" dirty="0"/>
              <a:t>Some key components and features commonly found in IDEs: </a:t>
            </a:r>
          </a:p>
          <a:p>
            <a:pPr marL="514350" indent="-514350">
              <a:lnSpc>
                <a:spcPct val="150000"/>
              </a:lnSpc>
              <a:buAutoNum type="arabicPeriod"/>
            </a:pPr>
            <a:r>
              <a:rPr lang="en-US" b="1" dirty="0"/>
              <a:t>Code Editor: </a:t>
            </a:r>
            <a:r>
              <a:rPr lang="en-US" dirty="0"/>
              <a:t>IDEs include a sophisticated code editor that offers features like syntax highlighting, code completion, code navigation, and formatting. These features help developers write code faster, catch errors, and improve code readability. 	</a:t>
            </a:r>
          </a:p>
          <a:p>
            <a:pPr marL="514350" indent="-514350">
              <a:lnSpc>
                <a:spcPct val="150000"/>
              </a:lnSpc>
              <a:buFont typeface="Arial" panose="020B0604020202020204" pitchFamily="34" charset="0"/>
              <a:buAutoNum type="arabicPeriod"/>
            </a:pPr>
            <a:r>
              <a:rPr lang="en-US" b="1" dirty="0"/>
              <a:t>2. Build Tools: </a:t>
            </a:r>
            <a:r>
              <a:rPr lang="en-US" dirty="0"/>
              <a:t>IDEs often integrate build tools, including compilers, interpreters, and build automation systems. These tools help in compiling, executing, and packaging the code into a distributable form. 	</a:t>
            </a:r>
          </a:p>
          <a:p>
            <a:pPr marL="514350" indent="-514350">
              <a:lnSpc>
                <a:spcPct val="150000"/>
              </a:lnSpc>
              <a:buAutoNum type="arabicPeriod"/>
            </a:pPr>
            <a:endParaRPr lang="en-US" dirty="0"/>
          </a:p>
          <a:p>
            <a:pPr marL="0" indent="0">
              <a:buNone/>
            </a:pPr>
            <a:endParaRPr lang="en-US" dirty="0"/>
          </a:p>
        </p:txBody>
      </p:sp>
    </p:spTree>
    <p:extLst>
      <p:ext uri="{BB962C8B-B14F-4D97-AF65-F5344CB8AC3E}">
        <p14:creationId xmlns:p14="http://schemas.microsoft.com/office/powerpoint/2010/main" val="11334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A7457C-FD0A-9356-66C2-7EC7337624C7}"/>
              </a:ext>
            </a:extLst>
          </p:cNvPr>
          <p:cNvSpPr>
            <a:spLocks noGrp="1"/>
          </p:cNvSpPr>
          <p:nvPr>
            <p:ph idx="1"/>
          </p:nvPr>
        </p:nvSpPr>
        <p:spPr>
          <a:xfrm>
            <a:off x="605790" y="605790"/>
            <a:ext cx="10687050" cy="6000750"/>
          </a:xfrm>
        </p:spPr>
        <p:txBody>
          <a:bodyPr>
            <a:normAutofit fontScale="92500" lnSpcReduction="20000"/>
          </a:bodyPr>
          <a:lstStyle/>
          <a:p>
            <a:pPr marL="0" indent="0">
              <a:lnSpc>
                <a:spcPct val="150000"/>
              </a:lnSpc>
              <a:buNone/>
            </a:pPr>
            <a:r>
              <a:rPr lang="en-US" b="1" dirty="0"/>
              <a:t>3. Debugging: </a:t>
            </a:r>
            <a:r>
              <a:rPr lang="en-US" dirty="0"/>
              <a:t>IDEs provide debugging capabilities, allowing developers to set breakpoints, inspect variables, step through code execution, and analyze runtime behavior. This helps identify and fix issues in the code.</a:t>
            </a:r>
            <a:r>
              <a:rPr lang="en-US" b="1" dirty="0"/>
              <a:t>…………</a:t>
            </a:r>
          </a:p>
          <a:p>
            <a:pPr marL="0" indent="0">
              <a:lnSpc>
                <a:spcPct val="160000"/>
              </a:lnSpc>
              <a:buNone/>
            </a:pPr>
            <a:r>
              <a:rPr lang="en-US" b="1" dirty="0"/>
              <a:t>Some popular IDEs used for different programming languages and frameworks include: </a:t>
            </a:r>
            <a:r>
              <a:rPr lang="en-US" dirty="0"/>
              <a:t>	</a:t>
            </a:r>
          </a:p>
          <a:p>
            <a:pPr marL="0" indent="0">
              <a:lnSpc>
                <a:spcPct val="160000"/>
              </a:lnSpc>
              <a:buNone/>
            </a:pPr>
            <a:r>
              <a:rPr lang="en-US" dirty="0"/>
              <a:t>Visual Studio Code, IntelliJ IDEA, PyCharm, Eclipse, and Xcode.</a:t>
            </a:r>
          </a:p>
          <a:p>
            <a:pPr marL="0" indent="0">
              <a:lnSpc>
                <a:spcPct val="160000"/>
              </a:lnSpc>
              <a:buNone/>
            </a:pPr>
            <a:r>
              <a:rPr lang="en-US" dirty="0"/>
              <a:t>	</a:t>
            </a:r>
          </a:p>
          <a:p>
            <a:pPr marL="0" indent="0">
              <a:buNone/>
            </a:pPr>
            <a:endParaRPr lang="en-US" dirty="0"/>
          </a:p>
          <a:p>
            <a:pPr marL="0" indent="0">
              <a:buNone/>
            </a:pPr>
            <a:r>
              <a:rPr lang="en-US" dirty="0"/>
              <a:t>	</a:t>
            </a:r>
          </a:p>
          <a:p>
            <a:pPr marL="0" indent="0">
              <a:buNone/>
            </a:pPr>
            <a:endParaRPr lang="en-US" dirty="0"/>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2731288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3B653C-12FF-A35E-68FF-6E5A3ED8928C}"/>
              </a:ext>
            </a:extLst>
          </p:cNvPr>
          <p:cNvSpPr>
            <a:spLocks noGrp="1"/>
          </p:cNvSpPr>
          <p:nvPr>
            <p:ph idx="1"/>
          </p:nvPr>
        </p:nvSpPr>
        <p:spPr>
          <a:xfrm>
            <a:off x="777240" y="548640"/>
            <a:ext cx="10767060" cy="5669280"/>
          </a:xfrm>
        </p:spPr>
        <p:txBody>
          <a:bodyPr>
            <a:normAutofit lnSpcReduction="10000"/>
          </a:bodyPr>
          <a:lstStyle/>
          <a:p>
            <a:pPr marL="0" indent="0">
              <a:lnSpc>
                <a:spcPct val="150000"/>
              </a:lnSpc>
              <a:buNone/>
            </a:pPr>
            <a:r>
              <a:rPr lang="en-US" b="1" dirty="0"/>
              <a:t>Frontend and backend </a:t>
            </a:r>
          </a:p>
          <a:p>
            <a:pPr marL="0" indent="0">
              <a:lnSpc>
                <a:spcPct val="150000"/>
              </a:lnSpc>
              <a:buNone/>
            </a:pPr>
            <a:r>
              <a:rPr lang="en-US" b="1" dirty="0"/>
              <a:t>Frontend</a:t>
            </a:r>
            <a:r>
              <a:rPr lang="en-US" dirty="0"/>
              <a:t> and</a:t>
            </a:r>
            <a:r>
              <a:rPr lang="en-US" b="1" dirty="0"/>
              <a:t> backend </a:t>
            </a:r>
            <a:r>
              <a:rPr lang="en-US" dirty="0"/>
              <a:t>are two distinct parts of a web application that work together to deliver a complete user experience. 	</a:t>
            </a:r>
          </a:p>
          <a:p>
            <a:pPr marL="0" indent="0">
              <a:lnSpc>
                <a:spcPct val="150000"/>
              </a:lnSpc>
              <a:buNone/>
            </a:pPr>
            <a:r>
              <a:rPr lang="en-US" b="1" dirty="0"/>
              <a:t>Frontend: </a:t>
            </a:r>
            <a:r>
              <a:rPr lang="en-US" dirty="0"/>
              <a:t>The frontend refers to the client-side of a web application, which is what the users interact with directly in their web browsers. </a:t>
            </a:r>
          </a:p>
          <a:p>
            <a:pPr marL="0" indent="0">
              <a:lnSpc>
                <a:spcPct val="150000"/>
              </a:lnSpc>
              <a:buNone/>
            </a:pPr>
            <a:r>
              <a:rPr lang="en-US" dirty="0"/>
              <a:t>The frontend technologies are responsible for creating an engaging and user-friendly experience. 	</a:t>
            </a:r>
          </a:p>
          <a:p>
            <a:pPr marL="0" indent="0">
              <a:lnSpc>
                <a:spcPct val="150000"/>
              </a:lnSpc>
              <a:buNone/>
            </a:pPr>
            <a:r>
              <a:rPr lang="en-US" dirty="0"/>
              <a:t>	</a:t>
            </a:r>
          </a:p>
          <a:p>
            <a:pPr marL="0" indent="0">
              <a:buNone/>
            </a:pPr>
            <a:endParaRPr lang="en-US" b="1" dirty="0"/>
          </a:p>
        </p:txBody>
      </p:sp>
    </p:spTree>
    <p:extLst>
      <p:ext uri="{BB962C8B-B14F-4D97-AF65-F5344CB8AC3E}">
        <p14:creationId xmlns:p14="http://schemas.microsoft.com/office/powerpoint/2010/main" val="821673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634B22-4B7E-567D-CBCA-F17DF839FC32}"/>
              </a:ext>
            </a:extLst>
          </p:cNvPr>
          <p:cNvSpPr>
            <a:spLocks noGrp="1"/>
          </p:cNvSpPr>
          <p:nvPr>
            <p:ph idx="1"/>
          </p:nvPr>
        </p:nvSpPr>
        <p:spPr>
          <a:xfrm>
            <a:off x="537210" y="674370"/>
            <a:ext cx="11361420" cy="5669280"/>
          </a:xfrm>
        </p:spPr>
        <p:txBody>
          <a:bodyPr/>
          <a:lstStyle/>
          <a:p>
            <a:pPr marL="0" indent="0">
              <a:lnSpc>
                <a:spcPct val="150000"/>
              </a:lnSpc>
              <a:buNone/>
            </a:pPr>
            <a:r>
              <a:rPr lang="en-US" b="1" dirty="0"/>
              <a:t>Some key aspects of frontend development include: </a:t>
            </a:r>
            <a:r>
              <a:rPr lang="en-US" dirty="0"/>
              <a:t>	</a:t>
            </a:r>
          </a:p>
          <a:p>
            <a:pPr marL="0" indent="0">
              <a:lnSpc>
                <a:spcPct val="150000"/>
              </a:lnSpc>
              <a:buNone/>
            </a:pPr>
            <a:r>
              <a:rPr lang="en-US" b="1" dirty="0"/>
              <a:t>HTML, CSS, JavaScript</a:t>
            </a:r>
            <a:r>
              <a:rPr lang="en-US" dirty="0"/>
              <a:t>, </a:t>
            </a:r>
          </a:p>
          <a:p>
            <a:pPr marL="0" indent="0">
              <a:lnSpc>
                <a:spcPct val="150000"/>
              </a:lnSpc>
              <a:buNone/>
            </a:pPr>
            <a:r>
              <a:rPr lang="en-US" b="1" dirty="0"/>
              <a:t>Frontend Frameworks and Libraries: </a:t>
            </a:r>
            <a:r>
              <a:rPr lang="en-US" dirty="0"/>
              <a:t>Frameworks like React, Angular, or Vue.js 	</a:t>
            </a:r>
          </a:p>
          <a:p>
            <a:pPr marL="0" indent="0">
              <a:lnSpc>
                <a:spcPct val="150000"/>
              </a:lnSpc>
              <a:buNone/>
            </a:pPr>
            <a:r>
              <a:rPr lang="en-US" b="1" dirty="0"/>
              <a:t>Responsive Design: </a:t>
            </a:r>
            <a:r>
              <a:rPr lang="en-US" dirty="0"/>
              <a:t>Frontend developers strive to create websites that adapt to different screen sizes and devices, ensuring a consistent experience across desktop, tablets, and mobile devices. 	</a:t>
            </a:r>
          </a:p>
          <a:p>
            <a:pPr marL="0" indent="0">
              <a:buNone/>
            </a:pPr>
            <a:endParaRPr lang="en-US" dirty="0"/>
          </a:p>
        </p:txBody>
      </p:sp>
    </p:spTree>
    <p:extLst>
      <p:ext uri="{BB962C8B-B14F-4D97-AF65-F5344CB8AC3E}">
        <p14:creationId xmlns:p14="http://schemas.microsoft.com/office/powerpoint/2010/main" val="2639148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9510FF-6FFE-A415-2A60-A9A7CDAA421C}"/>
              </a:ext>
            </a:extLst>
          </p:cNvPr>
          <p:cNvSpPr>
            <a:spLocks noGrp="1"/>
          </p:cNvSpPr>
          <p:nvPr>
            <p:ph idx="1"/>
          </p:nvPr>
        </p:nvSpPr>
        <p:spPr>
          <a:xfrm>
            <a:off x="697230" y="491491"/>
            <a:ext cx="11052810" cy="5669280"/>
          </a:xfrm>
        </p:spPr>
        <p:txBody>
          <a:bodyPr/>
          <a:lstStyle/>
          <a:p>
            <a:pPr marL="0" indent="0">
              <a:lnSpc>
                <a:spcPct val="150000"/>
              </a:lnSpc>
              <a:buNone/>
            </a:pPr>
            <a:r>
              <a:rPr lang="en-US" dirty="0"/>
              <a:t>Browser Compatibility: Frontend developers must consider cross-browser compatibility to ensure their websites work well across different web browsers like Chrome, Firefox, Safari, and Edge. 	</a:t>
            </a:r>
          </a:p>
          <a:p>
            <a:pPr marL="0" indent="0">
              <a:lnSpc>
                <a:spcPct val="150000"/>
              </a:lnSpc>
              <a:buNone/>
            </a:pPr>
            <a:r>
              <a:rPr lang="en-US" b="1" dirty="0"/>
              <a:t>Backend: </a:t>
            </a:r>
            <a:r>
              <a:rPr lang="en-US" dirty="0"/>
              <a:t>The backend, also known as the server-side, refers to the behind-the-scenes operations that power a web application. 	</a:t>
            </a:r>
          </a:p>
          <a:p>
            <a:pPr marL="0" indent="0">
              <a:lnSpc>
                <a:spcPct val="150000"/>
              </a:lnSpc>
              <a:buNone/>
            </a:pPr>
            <a:r>
              <a:rPr lang="en-US" dirty="0"/>
              <a:t>Backend technologies enable the communication between the frontend and various external resources, such as databases, APIs, and file systems. 	</a:t>
            </a:r>
          </a:p>
          <a:p>
            <a:pPr marL="0" indent="0">
              <a:lnSpc>
                <a:spcPct val="150000"/>
              </a:lnSpc>
              <a:buNone/>
            </a:pPr>
            <a:endParaRPr lang="en-US" dirty="0"/>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956367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E9F89-F5E7-2D4F-F477-8AAA23FD198A}"/>
              </a:ext>
            </a:extLst>
          </p:cNvPr>
          <p:cNvSpPr>
            <a:spLocks noGrp="1"/>
          </p:cNvSpPr>
          <p:nvPr>
            <p:ph idx="1"/>
          </p:nvPr>
        </p:nvSpPr>
        <p:spPr>
          <a:xfrm>
            <a:off x="754380" y="160020"/>
            <a:ext cx="11029950" cy="6343650"/>
          </a:xfrm>
        </p:spPr>
        <p:txBody>
          <a:bodyPr>
            <a:normAutofit/>
          </a:bodyPr>
          <a:lstStyle/>
          <a:p>
            <a:pPr marL="0" indent="0">
              <a:lnSpc>
                <a:spcPct val="150000"/>
              </a:lnSpc>
              <a:buNone/>
            </a:pPr>
            <a:r>
              <a:rPr lang="en-US" b="1" dirty="0"/>
              <a:t>Some key aspects of backend development include: </a:t>
            </a:r>
            <a:endParaRPr lang="en-US" dirty="0"/>
          </a:p>
          <a:p>
            <a:pPr marL="0" indent="0">
              <a:lnSpc>
                <a:spcPct val="150000"/>
              </a:lnSpc>
              <a:buNone/>
            </a:pPr>
            <a:r>
              <a:rPr lang="en-US" b="1" dirty="0"/>
              <a:t>1. Server-Side Programming Languages: </a:t>
            </a:r>
            <a:r>
              <a:rPr lang="en-US" dirty="0"/>
              <a:t>Popular backend programming languages include Python, Java, JavaScript (with Node.js), Ruby, and PHP. These languages handle the server-side logic and data processing. </a:t>
            </a:r>
          </a:p>
          <a:p>
            <a:pPr marL="0" indent="0">
              <a:lnSpc>
                <a:spcPct val="150000"/>
              </a:lnSpc>
              <a:buNone/>
            </a:pPr>
            <a:r>
              <a:rPr lang="en-US" b="1" dirty="0"/>
              <a:t>2. Web Frameworks</a:t>
            </a:r>
            <a:r>
              <a:rPr lang="en-US" dirty="0"/>
              <a:t>: Backend frameworks, such as Django (Python), Ruby on Rails (Ruby), Express.js (Node.js), and Laravel (PHP), provide pre-built tools and structures to handle common backend tasks, like routing, database integration, and authentication. 	</a:t>
            </a:r>
          </a:p>
          <a:p>
            <a:pPr marL="0" indent="0">
              <a:buNone/>
            </a:pPr>
            <a:endParaRPr lang="en-US" dirty="0"/>
          </a:p>
        </p:txBody>
      </p:sp>
    </p:spTree>
    <p:extLst>
      <p:ext uri="{BB962C8B-B14F-4D97-AF65-F5344CB8AC3E}">
        <p14:creationId xmlns:p14="http://schemas.microsoft.com/office/powerpoint/2010/main" val="3171088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4294F4-07CB-C25E-E2E5-7486308C5EF8}"/>
              </a:ext>
            </a:extLst>
          </p:cNvPr>
          <p:cNvSpPr>
            <a:spLocks noGrp="1"/>
          </p:cNvSpPr>
          <p:nvPr>
            <p:ph idx="1"/>
          </p:nvPr>
        </p:nvSpPr>
        <p:spPr>
          <a:xfrm>
            <a:off x="708660" y="491490"/>
            <a:ext cx="11041380" cy="5886450"/>
          </a:xfrm>
        </p:spPr>
        <p:txBody>
          <a:bodyPr/>
          <a:lstStyle/>
          <a:p>
            <a:pPr marL="0" indent="0">
              <a:lnSpc>
                <a:spcPct val="150000"/>
              </a:lnSpc>
              <a:buNone/>
            </a:pPr>
            <a:r>
              <a:rPr lang="en-US" b="1" dirty="0"/>
              <a:t>3. Databases: </a:t>
            </a:r>
            <a:r>
              <a:rPr lang="en-US" dirty="0"/>
              <a:t>Backend developers work with databases like MySQL, PostgreSQL, MongoDB, or Redis to store and retrieve data required by the application. </a:t>
            </a:r>
          </a:p>
          <a:p>
            <a:pPr marL="0" indent="0">
              <a:lnSpc>
                <a:spcPct val="150000"/>
              </a:lnSpc>
              <a:buNone/>
            </a:pPr>
            <a:r>
              <a:rPr lang="en-US" b="1" dirty="0"/>
              <a:t>4. APIs (Application Programming Interfaces): </a:t>
            </a:r>
            <a:r>
              <a:rPr lang="en-US" dirty="0"/>
              <a:t>Backend developers design and build APIs that expose data and functionality to the frontend or other external services. APIs allow different applications to communicate and exchange data in a standardized way. 	</a:t>
            </a:r>
          </a:p>
          <a:p>
            <a:pPr marL="0" indent="0">
              <a:buNone/>
            </a:pPr>
            <a:endParaRPr lang="en-US" dirty="0"/>
          </a:p>
        </p:txBody>
      </p:sp>
    </p:spTree>
    <p:extLst>
      <p:ext uri="{BB962C8B-B14F-4D97-AF65-F5344CB8AC3E}">
        <p14:creationId xmlns:p14="http://schemas.microsoft.com/office/powerpoint/2010/main" val="2112878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CA501-5254-877A-1BA9-D93DA98EEEBD}"/>
              </a:ext>
            </a:extLst>
          </p:cNvPr>
          <p:cNvSpPr>
            <a:spLocks noGrp="1"/>
          </p:cNvSpPr>
          <p:nvPr>
            <p:ph idx="1"/>
          </p:nvPr>
        </p:nvSpPr>
        <p:spPr>
          <a:xfrm>
            <a:off x="552450" y="579754"/>
            <a:ext cx="11289030" cy="5798186"/>
          </a:xfrm>
        </p:spPr>
        <p:txBody>
          <a:bodyPr/>
          <a:lstStyle/>
          <a:p>
            <a:pPr marL="0" indent="0">
              <a:lnSpc>
                <a:spcPct val="150000"/>
              </a:lnSpc>
              <a:buNone/>
            </a:pPr>
            <a:r>
              <a:rPr lang="en-US" b="1" dirty="0"/>
              <a:t>5. Security: </a:t>
            </a:r>
            <a:r>
              <a:rPr lang="en-US" dirty="0"/>
              <a:t>Backend developers handle security concerns such as user authentication, data validation, encryption, and protection against common web vulnerabilities like cross-site scripting (XSS) or SQL injection. </a:t>
            </a:r>
          </a:p>
          <a:p>
            <a:pPr marL="0" indent="0">
              <a:lnSpc>
                <a:spcPct val="150000"/>
              </a:lnSpc>
              <a:buNone/>
            </a:pPr>
            <a:r>
              <a:rPr lang="en-US" b="1" dirty="0"/>
              <a:t>6. Scaling and Performance: </a:t>
            </a:r>
            <a:r>
              <a:rPr lang="en-US" dirty="0"/>
              <a:t>Backend developers need to ensure that the server-side infrastructure can handle increased traffic and perform efficiently as the user base grows. 	</a:t>
            </a:r>
          </a:p>
          <a:p>
            <a:pPr marL="0" indent="0">
              <a:buNone/>
            </a:pPr>
            <a:endParaRPr lang="en-US" dirty="0"/>
          </a:p>
        </p:txBody>
      </p:sp>
    </p:spTree>
    <p:extLst>
      <p:ext uri="{BB962C8B-B14F-4D97-AF65-F5344CB8AC3E}">
        <p14:creationId xmlns:p14="http://schemas.microsoft.com/office/powerpoint/2010/main" val="3916405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456D51-7BAF-02C2-5A40-B493332C8C95}"/>
              </a:ext>
            </a:extLst>
          </p:cNvPr>
          <p:cNvSpPr>
            <a:spLocks noGrp="1"/>
          </p:cNvSpPr>
          <p:nvPr>
            <p:ph idx="1"/>
          </p:nvPr>
        </p:nvSpPr>
        <p:spPr>
          <a:xfrm>
            <a:off x="674370" y="651510"/>
            <a:ext cx="11361420" cy="5703570"/>
          </a:xfrm>
        </p:spPr>
        <p:txBody>
          <a:bodyPr/>
          <a:lstStyle/>
          <a:p>
            <a:pPr marL="0" indent="0">
              <a:lnSpc>
                <a:spcPct val="150000"/>
              </a:lnSpc>
              <a:buNone/>
            </a:pPr>
            <a:r>
              <a:rPr lang="en-US" b="1" dirty="0"/>
              <a:t>A Single Page Application </a:t>
            </a:r>
            <a:endParaRPr lang="en-US" dirty="0"/>
          </a:p>
          <a:p>
            <a:pPr marL="0" indent="0">
              <a:lnSpc>
                <a:spcPct val="150000"/>
              </a:lnSpc>
              <a:buNone/>
            </a:pPr>
            <a:r>
              <a:rPr lang="en-US" dirty="0"/>
              <a:t>A Single Page Application (SPA) is a web application architecture where the entire application runs within a single HTML page. Unlike traditional multi-page applications, SPAs do not require page reloads or navigation to different pages for every user action. Instead, SPAs dynamically update the content on the page, providing a more fluid and responsive user experience. 	</a:t>
            </a:r>
          </a:p>
          <a:p>
            <a:pPr marL="0" indent="0">
              <a:buNone/>
            </a:pPr>
            <a:endParaRPr lang="en-US" dirty="0"/>
          </a:p>
        </p:txBody>
      </p:sp>
    </p:spTree>
    <p:extLst>
      <p:ext uri="{BB962C8B-B14F-4D97-AF65-F5344CB8AC3E}">
        <p14:creationId xmlns:p14="http://schemas.microsoft.com/office/powerpoint/2010/main" val="2149698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CDE720-C8F1-5CDD-E35D-7C98EBC8CD1A}"/>
              </a:ext>
            </a:extLst>
          </p:cNvPr>
          <p:cNvSpPr>
            <a:spLocks noGrp="1"/>
          </p:cNvSpPr>
          <p:nvPr>
            <p:ph idx="1"/>
          </p:nvPr>
        </p:nvSpPr>
        <p:spPr>
          <a:xfrm>
            <a:off x="765810" y="582931"/>
            <a:ext cx="11178540" cy="5372100"/>
          </a:xfrm>
        </p:spPr>
        <p:txBody>
          <a:bodyPr/>
          <a:lstStyle/>
          <a:p>
            <a:pPr marL="0" indent="0">
              <a:lnSpc>
                <a:spcPct val="150000"/>
              </a:lnSpc>
              <a:buNone/>
            </a:pPr>
            <a:r>
              <a:rPr lang="en-US" b="1" dirty="0"/>
              <a:t>Dependencies </a:t>
            </a:r>
            <a:endParaRPr lang="en-US" dirty="0"/>
          </a:p>
          <a:p>
            <a:pPr marL="0" indent="0">
              <a:lnSpc>
                <a:spcPct val="150000"/>
              </a:lnSpc>
              <a:buNone/>
            </a:pPr>
            <a:r>
              <a:rPr lang="en-US" dirty="0"/>
              <a:t>In Vue.js, dependencies refer to the external libraries, packages, or modules that are required by your Vue project to add specific functionality or features. </a:t>
            </a:r>
          </a:p>
          <a:p>
            <a:pPr marL="0" indent="0">
              <a:lnSpc>
                <a:spcPct val="150000"/>
              </a:lnSpc>
              <a:buNone/>
            </a:pPr>
            <a:r>
              <a:rPr lang="en-US" dirty="0"/>
              <a:t>Dependencies are managed through a package manager, such as </a:t>
            </a:r>
            <a:r>
              <a:rPr lang="en-US" dirty="0" err="1"/>
              <a:t>npm</a:t>
            </a:r>
            <a:r>
              <a:rPr lang="en-US" dirty="0"/>
              <a:t> (Node Package Manager) or Yarn, which allows you to easily install, update, and remove dependencies. 	</a:t>
            </a:r>
          </a:p>
          <a:p>
            <a:pPr marL="0" indent="0">
              <a:buNone/>
            </a:pPr>
            <a:endParaRPr lang="en-US" dirty="0"/>
          </a:p>
        </p:txBody>
      </p:sp>
    </p:spTree>
    <p:extLst>
      <p:ext uri="{BB962C8B-B14F-4D97-AF65-F5344CB8AC3E}">
        <p14:creationId xmlns:p14="http://schemas.microsoft.com/office/powerpoint/2010/main" val="3359368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8AB33B-B2D9-5EF1-C93D-A7BD16A8B173}"/>
              </a:ext>
            </a:extLst>
          </p:cNvPr>
          <p:cNvSpPr>
            <a:spLocks noGrp="1"/>
          </p:cNvSpPr>
          <p:nvPr>
            <p:ph idx="1"/>
          </p:nvPr>
        </p:nvSpPr>
        <p:spPr>
          <a:xfrm>
            <a:off x="765810" y="537210"/>
            <a:ext cx="11029950" cy="6057900"/>
          </a:xfrm>
        </p:spPr>
        <p:txBody>
          <a:bodyPr>
            <a:normAutofit/>
          </a:bodyPr>
          <a:lstStyle/>
          <a:p>
            <a:pPr marL="0" indent="0">
              <a:lnSpc>
                <a:spcPct val="150000"/>
              </a:lnSpc>
              <a:buNone/>
            </a:pPr>
            <a:r>
              <a:rPr lang="en-US" b="1" dirty="0"/>
              <a:t>There are two types of dependencies in Vue.js: </a:t>
            </a:r>
            <a:endParaRPr lang="en-US" dirty="0"/>
          </a:p>
          <a:p>
            <a:pPr>
              <a:lnSpc>
                <a:spcPct val="150000"/>
              </a:lnSpc>
            </a:pPr>
            <a:r>
              <a:rPr lang="en-US" b="1" dirty="0"/>
              <a:t>Runtime Dependencies: </a:t>
            </a:r>
            <a:r>
              <a:rPr lang="en-US" dirty="0"/>
              <a:t>These are the dependencies required for your Vue.js application to run properly in the browser. They include the Vue.js framework itself and other runtime-specific libraries. </a:t>
            </a:r>
          </a:p>
          <a:p>
            <a:pPr>
              <a:lnSpc>
                <a:spcPct val="150000"/>
              </a:lnSpc>
            </a:pPr>
            <a:r>
              <a:rPr lang="en-US" b="1" dirty="0"/>
              <a:t>Development Dependencies: </a:t>
            </a:r>
            <a:r>
              <a:rPr lang="en-US" dirty="0"/>
              <a:t>These are the dependencies that are necessary during the development process, but are not required in the final production build of your application. They include tools, testing frameworks, bundlers, and other development-specific libraries. 	</a:t>
            </a:r>
          </a:p>
          <a:p>
            <a:pPr marL="0" indent="0">
              <a:buNone/>
            </a:pPr>
            <a:endParaRPr lang="en-US" dirty="0"/>
          </a:p>
        </p:txBody>
      </p:sp>
    </p:spTree>
    <p:extLst>
      <p:ext uri="{BB962C8B-B14F-4D97-AF65-F5344CB8AC3E}">
        <p14:creationId xmlns:p14="http://schemas.microsoft.com/office/powerpoint/2010/main" val="1544922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743231-EE19-6397-E08E-3C8D7799F7D3}"/>
              </a:ext>
            </a:extLst>
          </p:cNvPr>
          <p:cNvSpPr>
            <a:spLocks noGrp="1"/>
          </p:cNvSpPr>
          <p:nvPr>
            <p:ph idx="1"/>
          </p:nvPr>
        </p:nvSpPr>
        <p:spPr>
          <a:xfrm>
            <a:off x="480060" y="525780"/>
            <a:ext cx="11407140" cy="5703570"/>
          </a:xfrm>
        </p:spPr>
        <p:txBody>
          <a:bodyPr/>
          <a:lstStyle/>
          <a:p>
            <a:pPr marL="0" indent="0">
              <a:lnSpc>
                <a:spcPct val="150000"/>
              </a:lnSpc>
              <a:buNone/>
            </a:pPr>
            <a:r>
              <a:rPr lang="en-US" b="1" dirty="0"/>
              <a:t>1.1.2: Explanation of the environment in Vue </a:t>
            </a:r>
            <a:r>
              <a:rPr lang="en-US" b="1" dirty="0" err="1"/>
              <a:t>js</a:t>
            </a:r>
            <a:r>
              <a:rPr lang="en-US" b="1" dirty="0"/>
              <a:t> Framework </a:t>
            </a:r>
          </a:p>
          <a:p>
            <a:pPr marL="0" indent="0">
              <a:lnSpc>
                <a:spcPct val="150000"/>
              </a:lnSpc>
              <a:buNone/>
            </a:pPr>
            <a:r>
              <a:rPr lang="en-US" b="1" dirty="0"/>
              <a:t>The key components of a Vue.js development environment: </a:t>
            </a:r>
          </a:p>
          <a:p>
            <a:pPr marL="0" indent="0">
              <a:lnSpc>
                <a:spcPct val="150000"/>
              </a:lnSpc>
              <a:buNone/>
            </a:pPr>
            <a:r>
              <a:rPr lang="en-US" b="1" dirty="0"/>
              <a:t>Node.js: </a:t>
            </a:r>
            <a:r>
              <a:rPr lang="en-US" dirty="0"/>
              <a:t>Vue.js development typically requires Node.js, a JavaScript runtime built on Chrome's V8 JavaScript engine. It provides the environment to execute JavaScript code outside the browser and is essential for running build tools, package managers, and development servers.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1686952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581E3B-DC91-309F-DAA9-FD80EC63F169}"/>
              </a:ext>
            </a:extLst>
          </p:cNvPr>
          <p:cNvSpPr>
            <a:spLocks noGrp="1"/>
          </p:cNvSpPr>
          <p:nvPr>
            <p:ph idx="1"/>
          </p:nvPr>
        </p:nvSpPr>
        <p:spPr>
          <a:xfrm>
            <a:off x="617220" y="560070"/>
            <a:ext cx="11098530" cy="5852160"/>
          </a:xfrm>
        </p:spPr>
        <p:txBody>
          <a:bodyPr>
            <a:normAutofit lnSpcReduction="10000"/>
          </a:bodyPr>
          <a:lstStyle/>
          <a:p>
            <a:pPr marL="0" indent="0">
              <a:lnSpc>
                <a:spcPct val="150000"/>
              </a:lnSpc>
              <a:buNone/>
            </a:pPr>
            <a:r>
              <a:rPr lang="en-US" b="1" dirty="0"/>
              <a:t>Package Manager: </a:t>
            </a:r>
            <a:r>
              <a:rPr lang="en-US" dirty="0"/>
              <a:t>A package manager, such as </a:t>
            </a:r>
            <a:r>
              <a:rPr lang="en-US" dirty="0" err="1"/>
              <a:t>npm</a:t>
            </a:r>
            <a:r>
              <a:rPr lang="en-US" dirty="0"/>
              <a:t> (Node Package Manager) or Yarn, is used to manage project dependencies and install necessary libraries. It allows you to easily add, update, and remove packages required for your Vue.js project. 	</a:t>
            </a:r>
          </a:p>
          <a:p>
            <a:pPr marL="0" indent="0">
              <a:lnSpc>
                <a:spcPct val="150000"/>
              </a:lnSpc>
              <a:buNone/>
            </a:pPr>
            <a:r>
              <a:rPr lang="en-US" b="1" dirty="0"/>
              <a:t>Vue CLI: </a:t>
            </a:r>
            <a:r>
              <a:rPr lang="en-US" dirty="0"/>
              <a:t>Vue CLI (Command Line Interface) is a development tool specifically designed for Vue.js projects. It provides a standardized project structure, build configurations, and a set of helpful commands to scaffold, develop, and build Vue.js applications.	</a:t>
            </a:r>
          </a:p>
          <a:p>
            <a:pPr marL="0" indent="0">
              <a:lnSpc>
                <a:spcPct val="150000"/>
              </a:lnSpc>
              <a:buNone/>
            </a:pPr>
            <a:r>
              <a:rPr lang="en-US" dirty="0"/>
              <a: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217428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CEF147-7D16-4746-55DC-3288BA8B7F28}"/>
              </a:ext>
            </a:extLst>
          </p:cNvPr>
          <p:cNvSpPr>
            <a:spLocks noGrp="1"/>
          </p:cNvSpPr>
          <p:nvPr>
            <p:ph idx="1"/>
          </p:nvPr>
        </p:nvSpPr>
        <p:spPr>
          <a:xfrm>
            <a:off x="674370" y="137160"/>
            <a:ext cx="10221428" cy="5686124"/>
          </a:xfrm>
        </p:spPr>
        <p:txBody>
          <a:bodyPr>
            <a:normAutofit fontScale="47500" lnSpcReduction="20000"/>
          </a:bodyPr>
          <a:lstStyle/>
          <a:p>
            <a:pPr marL="0" indent="0">
              <a:lnSpc>
                <a:spcPct val="170000"/>
              </a:lnSpc>
              <a:buNone/>
            </a:pPr>
            <a:r>
              <a:rPr lang="en-US" sz="5100" b="1" dirty="0"/>
              <a:t>Code Editor: </a:t>
            </a:r>
            <a:r>
              <a:rPr lang="en-US" sz="5100" dirty="0"/>
              <a:t>A code editor is essential for writing Vue.js code. Popular options include Visual Studio Code, Sublime Text, Atom, or WebStorm.</a:t>
            </a:r>
          </a:p>
          <a:p>
            <a:pPr marL="0" indent="0">
              <a:lnSpc>
                <a:spcPct val="170000"/>
              </a:lnSpc>
              <a:buNone/>
            </a:pPr>
            <a:r>
              <a:rPr lang="en-US" sz="5100" b="1" dirty="0"/>
              <a:t>These tools are essential for troubleshooting and optimizing Vue.js applications:</a:t>
            </a:r>
          </a:p>
          <a:p>
            <a:pPr marL="0" indent="0">
              <a:lnSpc>
                <a:spcPct val="170000"/>
              </a:lnSpc>
              <a:buNone/>
            </a:pPr>
            <a:r>
              <a:rPr lang="en-US" sz="5100" dirty="0"/>
              <a:t>Testing Tools, Build Tools………..</a:t>
            </a:r>
          </a:p>
          <a:p>
            <a:pPr marL="0" indent="0">
              <a:lnSpc>
                <a:spcPct val="170000"/>
              </a:lnSpc>
              <a:buNone/>
            </a:pPr>
            <a:endParaRPr lang="en-US" sz="5100" b="1" dirty="0"/>
          </a:p>
          <a:p>
            <a:pPr marL="0" indent="0">
              <a:lnSpc>
                <a:spcPct val="150000"/>
              </a:lnSpc>
              <a:buNone/>
            </a:pPr>
            <a:r>
              <a:rPr lang="en-US" dirty="0"/>
              <a:t>	</a:t>
            </a:r>
          </a:p>
          <a:p>
            <a:pPr marL="0" indent="0">
              <a:lnSpc>
                <a:spcPct val="150000"/>
              </a:lnSpc>
              <a:buNone/>
            </a:pPr>
            <a:r>
              <a:rPr lang="en-US" dirty="0"/>
              <a:t>	</a:t>
            </a:r>
          </a:p>
          <a:p>
            <a:pPr marL="0" indent="0">
              <a:lnSpc>
                <a:spcPct val="150000"/>
              </a:lnSpc>
              <a:buNone/>
            </a:pPr>
            <a:r>
              <a:rPr lang="en-US" dirty="0"/>
              <a:t>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442979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40A23C-725F-CA6C-FF1A-F004E8837096}"/>
              </a:ext>
            </a:extLst>
          </p:cNvPr>
          <p:cNvSpPr>
            <a:spLocks noGrp="1"/>
          </p:cNvSpPr>
          <p:nvPr>
            <p:ph idx="1"/>
          </p:nvPr>
        </p:nvSpPr>
        <p:spPr>
          <a:xfrm>
            <a:off x="1155031" y="269508"/>
            <a:ext cx="10712917" cy="5159140"/>
          </a:xfrm>
        </p:spPr>
        <p:txBody>
          <a:bodyPr/>
          <a:lstStyle/>
          <a:p>
            <a:pPr marL="0" indent="0">
              <a:lnSpc>
                <a:spcPct val="150000"/>
              </a:lnSpc>
              <a:buNone/>
            </a:pPr>
            <a:r>
              <a:rPr lang="en-US" b="1" dirty="0"/>
              <a:t>The key components and considerations for a Vue.js production environment: </a:t>
            </a:r>
            <a:endParaRPr lang="en-US" dirty="0"/>
          </a:p>
          <a:p>
            <a:pPr marL="0" indent="0">
              <a:lnSpc>
                <a:spcPct val="150000"/>
              </a:lnSpc>
              <a:buNone/>
            </a:pPr>
            <a:r>
              <a:rPr lang="en-US" b="1" dirty="0"/>
              <a:t>Build Process: </a:t>
            </a:r>
            <a:r>
              <a:rPr lang="en-US" dirty="0"/>
              <a:t>Before deploying a Vue.js application to production, it needs to be built for optimal performance and reduced file sizes. </a:t>
            </a:r>
          </a:p>
          <a:p>
            <a:pPr marL="0" indent="0">
              <a:lnSpc>
                <a:spcPct val="150000"/>
              </a:lnSpc>
              <a:buNone/>
            </a:pPr>
            <a:r>
              <a:rPr lang="en-US" b="1" dirty="0"/>
              <a:t>Static Asset Hosting: </a:t>
            </a:r>
            <a:r>
              <a:rPr lang="en-US" dirty="0"/>
              <a:t>To serve your Vue.js application in a production environment, you need a web server capable of hosting static assets.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1452632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449A0A-1796-A7CF-F3CB-3C3A4BFD3C30}"/>
              </a:ext>
            </a:extLst>
          </p:cNvPr>
          <p:cNvSpPr>
            <a:spLocks noGrp="1"/>
          </p:cNvSpPr>
          <p:nvPr>
            <p:ph idx="1"/>
          </p:nvPr>
        </p:nvSpPr>
        <p:spPr>
          <a:xfrm>
            <a:off x="625641" y="529388"/>
            <a:ext cx="11146055" cy="5544153"/>
          </a:xfrm>
        </p:spPr>
        <p:txBody>
          <a:bodyPr>
            <a:normAutofit lnSpcReduction="10000"/>
          </a:bodyPr>
          <a:lstStyle/>
          <a:p>
            <a:pPr marL="0" indent="0">
              <a:lnSpc>
                <a:spcPct val="150000"/>
              </a:lnSpc>
              <a:buNone/>
            </a:pPr>
            <a:r>
              <a:rPr lang="en-US" dirty="0"/>
              <a:t>Vue.js applications are typically static files (HTML, CSS, JavaScript, and assets) that can be served by any web server, such as Apache, Nginx, or a content delivery network (CDN). 	</a:t>
            </a:r>
          </a:p>
          <a:p>
            <a:pPr marL="0" indent="0">
              <a:lnSpc>
                <a:spcPct val="150000"/>
              </a:lnSpc>
              <a:buNone/>
            </a:pPr>
            <a:r>
              <a:rPr lang="en-US" b="1" dirty="0"/>
              <a:t>Application Deployment</a:t>
            </a:r>
            <a:r>
              <a:rPr lang="en-US" dirty="0"/>
              <a:t>: To deploy your Vue.js application to a production environment, you need to transfer the built files to the hosting server. </a:t>
            </a:r>
          </a:p>
          <a:p>
            <a:pPr marL="0" indent="0">
              <a:lnSpc>
                <a:spcPct val="150000"/>
              </a:lnSpc>
              <a:buNone/>
            </a:pPr>
            <a:r>
              <a:rPr lang="en-US" dirty="0"/>
              <a:t>Security Considerations, Performance Optimization, Monitoring and Error Tracking, and Continuous Deployment.</a:t>
            </a:r>
          </a:p>
          <a:p>
            <a:pPr marL="0" indent="0">
              <a:lnSpc>
                <a:spcPct val="150000"/>
              </a:lnSpc>
              <a:buNone/>
            </a:pPr>
            <a:r>
              <a:rPr lang="en-US" dirty="0"/>
              <a: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4128236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7213F4-9D74-1338-5499-F97342D0DE02}"/>
              </a:ext>
            </a:extLst>
          </p:cNvPr>
          <p:cNvSpPr>
            <a:spLocks noGrp="1"/>
          </p:cNvSpPr>
          <p:nvPr>
            <p:ph idx="1"/>
          </p:nvPr>
        </p:nvSpPr>
        <p:spPr>
          <a:xfrm>
            <a:off x="760396" y="500514"/>
            <a:ext cx="11059427" cy="5524902"/>
          </a:xfrm>
        </p:spPr>
        <p:txBody>
          <a:bodyPr>
            <a:normAutofit fontScale="32500" lnSpcReduction="20000"/>
          </a:bodyPr>
          <a:lstStyle/>
          <a:p>
            <a:pPr marL="0" indent="0">
              <a:lnSpc>
                <a:spcPct val="170000"/>
              </a:lnSpc>
              <a:buNone/>
            </a:pPr>
            <a:r>
              <a:rPr lang="en-US" sz="8600" b="1" dirty="0"/>
              <a:t>1.1.3: Introduction to Vue JS Framework </a:t>
            </a:r>
            <a:endParaRPr lang="en-US" sz="8600" dirty="0"/>
          </a:p>
          <a:p>
            <a:pPr marL="0" indent="0">
              <a:lnSpc>
                <a:spcPct val="170000"/>
              </a:lnSpc>
              <a:buNone/>
            </a:pPr>
            <a:r>
              <a:rPr lang="en-US" sz="8600" dirty="0"/>
              <a:t>History of the Vue.js Framework </a:t>
            </a:r>
          </a:p>
          <a:p>
            <a:pPr marL="0" indent="0">
              <a:lnSpc>
                <a:spcPct val="170000"/>
              </a:lnSpc>
              <a:buNone/>
            </a:pPr>
            <a:r>
              <a:rPr lang="en-US" sz="8600" b="1" dirty="0"/>
              <a:t>Vue.js </a:t>
            </a:r>
            <a:r>
              <a:rPr lang="en-US" sz="8600" dirty="0"/>
              <a:t>was created by </a:t>
            </a:r>
            <a:r>
              <a:rPr lang="en-US" sz="8600" b="1" dirty="0"/>
              <a:t>Evan You </a:t>
            </a:r>
            <a:r>
              <a:rPr lang="en-US" sz="8600" dirty="0"/>
              <a:t>and first released in February 2014. It was developed to address the need for a more flexible and efficient front-end framework that could compete with Angular and React. 	</a:t>
            </a:r>
          </a:p>
          <a:p>
            <a:pPr marL="0" indent="0">
              <a:lnSpc>
                <a:spcPct val="170000"/>
              </a:lnSpc>
              <a:buNone/>
            </a:pPr>
            <a:endParaRPr lang="en-US" sz="5900" dirty="0"/>
          </a:p>
          <a:p>
            <a:pPr marL="0" indent="0">
              <a:buNone/>
            </a:pPr>
            <a:r>
              <a:rPr lang="en-US" sz="5900" dirty="0"/>
              <a:t>	</a:t>
            </a:r>
          </a:p>
          <a:p>
            <a:pPr marL="0" indent="0">
              <a:buNone/>
            </a:pPr>
            <a:r>
              <a:rPr lang="en-US" dirty="0"/>
              <a:t>	</a:t>
            </a:r>
          </a:p>
          <a:p>
            <a:pPr marL="0" indent="0">
              <a:buNone/>
            </a:pPr>
            <a:r>
              <a:rPr lang="en-US"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353594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DDC01C-EDA5-3BBE-85AC-147C26937744}"/>
              </a:ext>
            </a:extLst>
          </p:cNvPr>
          <p:cNvSpPr>
            <a:spLocks noGrp="1"/>
          </p:cNvSpPr>
          <p:nvPr>
            <p:ph idx="1"/>
          </p:nvPr>
        </p:nvSpPr>
        <p:spPr>
          <a:xfrm>
            <a:off x="654517" y="760395"/>
            <a:ext cx="11194181" cy="5727031"/>
          </a:xfrm>
        </p:spPr>
        <p:txBody>
          <a:bodyPr/>
          <a:lstStyle/>
          <a:p>
            <a:pPr marL="0" indent="0">
              <a:lnSpc>
                <a:spcPct val="150000"/>
              </a:lnSpc>
              <a:buNone/>
            </a:pPr>
            <a:r>
              <a:rPr lang="en-US" b="1" dirty="0"/>
              <a:t>Advantages of Vue.js Framework </a:t>
            </a:r>
            <a:endParaRPr lang="en-US" dirty="0"/>
          </a:p>
          <a:p>
            <a:pPr marL="0" indent="0">
              <a:lnSpc>
                <a:spcPct val="150000"/>
              </a:lnSpc>
              <a:buNone/>
            </a:pPr>
            <a:r>
              <a:rPr lang="en-US" b="1" dirty="0"/>
              <a:t>Easy to Learn and Use: </a:t>
            </a:r>
            <a:r>
              <a:rPr lang="en-US" dirty="0"/>
              <a:t>Vue.js has a gentle learning curve, making it accessible for beginners while still offering advanced features for more experienced developers. 	</a:t>
            </a:r>
          </a:p>
          <a:p>
            <a:pPr marL="0" indent="0">
              <a:lnSpc>
                <a:spcPct val="150000"/>
              </a:lnSpc>
              <a:buNone/>
            </a:pPr>
            <a:r>
              <a:rPr lang="en-US" b="1" dirty="0"/>
              <a:t>Versatility: </a:t>
            </a:r>
            <a:r>
              <a:rPr lang="en-US" dirty="0"/>
              <a:t>It can be used for building single-page applications (SPAs), complex web interfaces, and even native mobile apps with frameworks like </a:t>
            </a:r>
            <a:r>
              <a:rPr lang="en-US" dirty="0" err="1"/>
              <a:t>NativeScript</a:t>
            </a:r>
            <a:r>
              <a:rPr lang="en-US" dirty="0"/>
              <a: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3570955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2B0205-A0D2-730C-592A-BA60E1B032EB}"/>
              </a:ext>
            </a:extLst>
          </p:cNvPr>
          <p:cNvSpPr>
            <a:spLocks noGrp="1"/>
          </p:cNvSpPr>
          <p:nvPr>
            <p:ph idx="1"/>
          </p:nvPr>
        </p:nvSpPr>
        <p:spPr>
          <a:xfrm>
            <a:off x="741145" y="818146"/>
            <a:ext cx="11040177" cy="5553777"/>
          </a:xfrm>
        </p:spPr>
        <p:txBody>
          <a:bodyPr>
            <a:normAutofit/>
          </a:bodyPr>
          <a:lstStyle/>
          <a:p>
            <a:pPr marL="0" indent="0">
              <a:lnSpc>
                <a:spcPct val="150000"/>
              </a:lnSpc>
              <a:buNone/>
            </a:pPr>
            <a:r>
              <a:rPr lang="en-US" b="1" dirty="0"/>
              <a:t>Component-Based: </a:t>
            </a:r>
            <a:r>
              <a:rPr lang="en-US" dirty="0"/>
              <a:t>Vue.js follows a component-based architecture similar to React, making it easy to reuse components and manage complex UIs. </a:t>
            </a:r>
          </a:p>
          <a:p>
            <a:pPr marL="0" indent="0">
              <a:lnSpc>
                <a:spcPct val="150000"/>
              </a:lnSpc>
              <a:buNone/>
            </a:pPr>
            <a:r>
              <a:rPr lang="en-US" b="1" dirty="0"/>
              <a:t>Flexibility: </a:t>
            </a:r>
            <a:r>
              <a:rPr lang="en-US" dirty="0"/>
              <a:t>Vue.js can be integrated into existing projects seamlessly, allowing incremental adoption. It also supports building large-scale applications efficiently. </a:t>
            </a:r>
          </a:p>
          <a:p>
            <a:pPr marL="0" indent="0">
              <a:lnSpc>
                <a:spcPct val="150000"/>
              </a:lnSpc>
              <a:buNone/>
            </a:pPr>
            <a:r>
              <a:rPr lang="en-US" b="1" dirty="0"/>
              <a:t>Performance: </a:t>
            </a:r>
            <a:r>
              <a:rPr lang="en-US" dirty="0"/>
              <a:t>Vue.js is lightweight and fast, with optimized rendering and minimal overhead. 	</a:t>
            </a:r>
          </a:p>
          <a:p>
            <a:pPr marL="0" indent="0">
              <a:buNone/>
            </a:pPr>
            <a:endParaRPr lang="en-US" dirty="0"/>
          </a:p>
        </p:txBody>
      </p:sp>
    </p:spTree>
    <p:extLst>
      <p:ext uri="{BB962C8B-B14F-4D97-AF65-F5344CB8AC3E}">
        <p14:creationId xmlns:p14="http://schemas.microsoft.com/office/powerpoint/2010/main" val="3205973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143598-AF93-33A6-C1C5-5256FCD2DA26}"/>
              </a:ext>
            </a:extLst>
          </p:cNvPr>
          <p:cNvSpPr>
            <a:spLocks noGrp="1"/>
          </p:cNvSpPr>
          <p:nvPr>
            <p:ph idx="1"/>
          </p:nvPr>
        </p:nvSpPr>
        <p:spPr>
          <a:xfrm>
            <a:off x="702644" y="1029903"/>
            <a:ext cx="10972800" cy="5120640"/>
          </a:xfrm>
        </p:spPr>
        <p:txBody>
          <a:bodyPr/>
          <a:lstStyle/>
          <a:p>
            <a:pPr marL="0" indent="0">
              <a:lnSpc>
                <a:spcPct val="150000"/>
              </a:lnSpc>
              <a:buNone/>
            </a:pPr>
            <a:r>
              <a:rPr lang="en-US" b="1" dirty="0"/>
              <a:t>Official Tooling: </a:t>
            </a:r>
            <a:r>
              <a:rPr lang="en-US" dirty="0"/>
              <a:t>Vue.js provides official libraries and tools (like Vue Router for routing and </a:t>
            </a:r>
            <a:r>
              <a:rPr lang="en-US" dirty="0" err="1"/>
              <a:t>Vuex</a:t>
            </a:r>
            <a:r>
              <a:rPr lang="en-US" dirty="0"/>
              <a:t> for state management) that work seamlessly with the framework. </a:t>
            </a:r>
          </a:p>
          <a:p>
            <a:pPr marL="0" indent="0">
              <a:lnSpc>
                <a:spcPct val="150000"/>
              </a:lnSpc>
              <a:buNone/>
            </a:pPr>
            <a:r>
              <a:rPr lang="en-US" b="1" dirty="0"/>
              <a:t>Active Community: </a:t>
            </a:r>
            <a:r>
              <a:rPr lang="en-US" dirty="0"/>
              <a:t>Vue.js has a large and active community, contributing to its growth, support, and availability of plugins and extensions. 	</a:t>
            </a:r>
          </a:p>
          <a:p>
            <a:pPr marL="0" indent="0">
              <a:buNone/>
            </a:pPr>
            <a:endParaRPr lang="en-US" dirty="0"/>
          </a:p>
        </p:txBody>
      </p:sp>
    </p:spTree>
    <p:extLst>
      <p:ext uri="{BB962C8B-B14F-4D97-AF65-F5344CB8AC3E}">
        <p14:creationId xmlns:p14="http://schemas.microsoft.com/office/powerpoint/2010/main" val="3612644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6531B-B1C2-9DBB-03F1-E268C17C6261}"/>
              </a:ext>
            </a:extLst>
          </p:cNvPr>
          <p:cNvSpPr>
            <a:spLocks noGrp="1"/>
          </p:cNvSpPr>
          <p:nvPr>
            <p:ph idx="1"/>
          </p:nvPr>
        </p:nvSpPr>
        <p:spPr>
          <a:xfrm>
            <a:off x="587141" y="1039528"/>
            <a:ext cx="11396312" cy="5399773"/>
          </a:xfrm>
        </p:spPr>
        <p:txBody>
          <a:bodyPr/>
          <a:lstStyle/>
          <a:p>
            <a:pPr marL="0" indent="0">
              <a:lnSpc>
                <a:spcPct val="150000"/>
              </a:lnSpc>
              <a:buNone/>
            </a:pPr>
            <a:r>
              <a:rPr lang="en-US" b="1" dirty="0"/>
              <a:t>Purpose of Vue.js Framework </a:t>
            </a:r>
          </a:p>
          <a:p>
            <a:pPr marL="0" indent="0">
              <a:lnSpc>
                <a:spcPct val="150000"/>
              </a:lnSpc>
              <a:buNone/>
            </a:pPr>
            <a:r>
              <a:rPr lang="en-US" dirty="0"/>
              <a:t>Vue.js is designed to simplify the development of interactive web interfaces. Its primary purposes include: </a:t>
            </a:r>
          </a:p>
          <a:p>
            <a:pPr marL="0" indent="0">
              <a:lnSpc>
                <a:spcPct val="150000"/>
              </a:lnSpc>
              <a:buNone/>
            </a:pPr>
            <a:r>
              <a:rPr lang="en-US" b="1" dirty="0"/>
              <a:t>Building User Interfaces: </a:t>
            </a:r>
            <a:r>
              <a:rPr lang="en-US" dirty="0"/>
              <a:t>Vue.js allows developers to create dynamic and responsive user interfaces efficiently. 	</a:t>
            </a:r>
          </a:p>
          <a:p>
            <a:pPr marL="0" indent="0">
              <a:lnSpc>
                <a:spcPct val="150000"/>
              </a:lnSpc>
              <a:buNone/>
            </a:pPr>
            <a:r>
              <a:rPr lang="en-US" b="1" dirty="0"/>
              <a:t>SPA Development: </a:t>
            </a:r>
            <a:r>
              <a:rPr lang="en-US" dirty="0"/>
              <a:t>It excels in building single-page applications where fast rendering and seamless user interactions are crucial.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7835725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DB2B0E-1FAC-6A97-84CF-328712BF28CD}"/>
              </a:ext>
            </a:extLst>
          </p:cNvPr>
          <p:cNvSpPr>
            <a:spLocks noGrp="1"/>
          </p:cNvSpPr>
          <p:nvPr>
            <p:ph idx="1"/>
          </p:nvPr>
        </p:nvSpPr>
        <p:spPr>
          <a:xfrm>
            <a:off x="779647" y="1337911"/>
            <a:ext cx="11078678" cy="5130265"/>
          </a:xfrm>
        </p:spPr>
        <p:txBody>
          <a:bodyPr>
            <a:normAutofit/>
          </a:bodyPr>
          <a:lstStyle/>
          <a:p>
            <a:pPr marL="0" indent="0">
              <a:lnSpc>
                <a:spcPct val="150000"/>
              </a:lnSpc>
              <a:buNone/>
            </a:pPr>
            <a:r>
              <a:rPr lang="en-US" b="1" dirty="0"/>
              <a:t>Component Reusability: </a:t>
            </a:r>
            <a:r>
              <a:rPr lang="en-US" dirty="0"/>
              <a:t>Vue.js promotes modular development through components, enhancing code maintainability and reusability. </a:t>
            </a:r>
          </a:p>
          <a:p>
            <a:pPr marL="0" indent="0">
              <a:lnSpc>
                <a:spcPct val="150000"/>
              </a:lnSpc>
              <a:buNone/>
            </a:pPr>
            <a:r>
              <a:rPr lang="en-US" b="1" dirty="0"/>
              <a:t>Progressive Framework: </a:t>
            </a:r>
            <a:r>
              <a:rPr lang="en-US" dirty="0"/>
              <a:t>Vue.js can be incrementally adopted into existing projects, making it suitable for both small and large-scale applications.</a:t>
            </a:r>
          </a:p>
          <a:p>
            <a:pPr marL="0" indent="0">
              <a:lnSpc>
                <a:spcPct val="150000"/>
              </a:lnSpc>
              <a:buNone/>
            </a:pPr>
            <a:r>
              <a:rPr lang="en-US" b="1" dirty="0"/>
              <a:t>Requirements for Learning Vue.js Framework </a:t>
            </a:r>
          </a:p>
          <a:p>
            <a:pPr marL="0" indent="0">
              <a:lnSpc>
                <a:spcPct val="150000"/>
              </a:lnSpc>
              <a:buNone/>
            </a:pPr>
            <a:r>
              <a:rPr lang="en-US" dirty="0"/>
              <a:t>To effectively learn Vue.js, you should be familiar with: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1945018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168B0-EF4F-90C7-A6BF-A2AB1EB978A6}"/>
              </a:ext>
            </a:extLst>
          </p:cNvPr>
          <p:cNvSpPr>
            <a:spLocks noGrp="1"/>
          </p:cNvSpPr>
          <p:nvPr>
            <p:ph idx="1"/>
          </p:nvPr>
        </p:nvSpPr>
        <p:spPr>
          <a:xfrm>
            <a:off x="721895" y="1116531"/>
            <a:ext cx="10963174" cy="5245768"/>
          </a:xfrm>
        </p:spPr>
        <p:txBody>
          <a:bodyPr>
            <a:normAutofit fontScale="92500" lnSpcReduction="20000"/>
          </a:bodyPr>
          <a:lstStyle/>
          <a:p>
            <a:pPr>
              <a:lnSpc>
                <a:spcPct val="150000"/>
              </a:lnSpc>
            </a:pPr>
            <a:r>
              <a:rPr lang="en-US" b="1" dirty="0"/>
              <a:t>HTML/CSS: </a:t>
            </a:r>
            <a:r>
              <a:rPr lang="en-US" dirty="0"/>
              <a:t>Basic knowledge of HTML for markup and CSS for styling is essential. </a:t>
            </a:r>
          </a:p>
          <a:p>
            <a:pPr>
              <a:lnSpc>
                <a:spcPct val="150000"/>
              </a:lnSpc>
            </a:pPr>
            <a:r>
              <a:rPr lang="en-US" b="1" dirty="0"/>
              <a:t>JavaScript (ES6+): </a:t>
            </a:r>
            <a:r>
              <a:rPr lang="en-US" dirty="0"/>
              <a:t>Understanding of JavaScript fundamentals, especially ES6 features like arrow functions, classes, and modules. </a:t>
            </a:r>
          </a:p>
          <a:p>
            <a:pPr marL="0" indent="0">
              <a:lnSpc>
                <a:spcPct val="170000"/>
              </a:lnSpc>
              <a:buNone/>
            </a:pPr>
            <a:r>
              <a:rPr lang="en-US" b="1" dirty="0"/>
              <a:t>Specific areas where Vue.js can be effectively utilized:</a:t>
            </a:r>
          </a:p>
          <a:p>
            <a:pPr marL="0" indent="0">
              <a:lnSpc>
                <a:spcPct val="170000"/>
              </a:lnSpc>
              <a:buNone/>
            </a:pPr>
            <a:endParaRPr lang="en-US" b="1" dirty="0"/>
          </a:p>
          <a:p>
            <a:pPr marL="0" indent="0">
              <a:buNone/>
            </a:pPr>
            <a:endParaRPr lang="en-US" b="1" dirty="0"/>
          </a:p>
          <a:p>
            <a:pPr marL="0" indent="0">
              <a:buNone/>
            </a:pPr>
            <a:r>
              <a:rPr lang="en-US" dirty="0"/>
              <a:t>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590841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BE78DF-7036-020F-3BB0-141FAE18671F}"/>
              </a:ext>
            </a:extLst>
          </p:cNvPr>
          <p:cNvSpPr>
            <a:spLocks noGrp="1"/>
          </p:cNvSpPr>
          <p:nvPr>
            <p:ph idx="1"/>
          </p:nvPr>
        </p:nvSpPr>
        <p:spPr>
          <a:xfrm>
            <a:off x="336885" y="317633"/>
            <a:ext cx="11473313" cy="5332395"/>
          </a:xfrm>
        </p:spPr>
        <p:txBody>
          <a:bodyPr>
            <a:normAutofit fontScale="92500" lnSpcReduction="20000"/>
          </a:bodyPr>
          <a:lstStyle/>
          <a:p>
            <a:pPr marL="0" indent="0">
              <a:lnSpc>
                <a:spcPct val="150000"/>
              </a:lnSpc>
              <a:buNone/>
            </a:pPr>
            <a:r>
              <a:rPr lang="en-US" b="1" dirty="0"/>
              <a:t>1. Single-Page Applications (SPAs) </a:t>
            </a:r>
            <a:endParaRPr lang="en-US" dirty="0"/>
          </a:p>
          <a:p>
            <a:pPr marL="0" indent="0">
              <a:lnSpc>
                <a:spcPct val="150000"/>
              </a:lnSpc>
              <a:buNone/>
            </a:pPr>
            <a:r>
              <a:rPr lang="en-US" dirty="0"/>
              <a:t>Vue.js is ideal for building SPAs where dynamic content is loaded without refreshing the entire page, providing a smooth user experience. </a:t>
            </a:r>
          </a:p>
          <a:p>
            <a:pPr marL="0" indent="0">
              <a:lnSpc>
                <a:spcPct val="150000"/>
              </a:lnSpc>
              <a:buNone/>
            </a:pPr>
            <a:r>
              <a:rPr lang="en-US" b="1" dirty="0"/>
              <a:t>Examples: </a:t>
            </a:r>
            <a:r>
              <a:rPr lang="en-US" dirty="0"/>
              <a:t>Social networks, dashboards, and project management tools.</a:t>
            </a:r>
          </a:p>
          <a:p>
            <a:endParaRPr lang="en-US" b="1" dirty="0"/>
          </a:p>
          <a:p>
            <a:pPr marL="0" indent="0">
              <a:buNone/>
            </a:pPr>
            <a:r>
              <a:rPr lang="en-US" b="1" dirty="0"/>
              <a:t>2. Progressive Web Apps (PWAs) </a:t>
            </a:r>
          </a:p>
          <a:p>
            <a:pPr marL="0" indent="0">
              <a:lnSpc>
                <a:spcPct val="170000"/>
              </a:lnSpc>
              <a:buNone/>
            </a:pPr>
            <a:r>
              <a:rPr lang="en-US" dirty="0"/>
              <a:t>Vue.js can be used to develop PWAs that offer a native app-like experience in the browser, with offline support and fast load times. </a:t>
            </a:r>
          </a:p>
          <a:p>
            <a:pPr marL="0" indent="0">
              <a:lnSpc>
                <a:spcPct val="150000"/>
              </a:lnSpc>
              <a:buNone/>
            </a:pPr>
            <a:r>
              <a:rPr lang="en-US" b="1" dirty="0"/>
              <a:t> 	</a:t>
            </a:r>
          </a:p>
          <a:p>
            <a:pPr marL="0" indent="0">
              <a:buNone/>
            </a:pPr>
            <a:endParaRPr lang="en-US" dirty="0"/>
          </a:p>
        </p:txBody>
      </p:sp>
    </p:spTree>
    <p:extLst>
      <p:ext uri="{BB962C8B-B14F-4D97-AF65-F5344CB8AC3E}">
        <p14:creationId xmlns:p14="http://schemas.microsoft.com/office/powerpoint/2010/main" val="2065923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7711C-F818-036D-087F-BCFE24634680}"/>
              </a:ext>
            </a:extLst>
          </p:cNvPr>
          <p:cNvSpPr>
            <a:spLocks noGrp="1"/>
          </p:cNvSpPr>
          <p:nvPr>
            <p:ph idx="1"/>
          </p:nvPr>
        </p:nvSpPr>
        <p:spPr>
          <a:xfrm>
            <a:off x="655319" y="420336"/>
            <a:ext cx="11241505" cy="5162317"/>
          </a:xfrm>
        </p:spPr>
        <p:txBody>
          <a:bodyPr/>
          <a:lstStyle/>
          <a:p>
            <a:pPr marL="0" indent="0">
              <a:buNone/>
            </a:pPr>
            <a:r>
              <a:rPr lang="en-US" b="1" dirty="0"/>
              <a:t>Examples</a:t>
            </a:r>
            <a:r>
              <a:rPr lang="en-US" dirty="0"/>
              <a:t>: E-commerce platforms, news websites, and blogs. </a:t>
            </a:r>
          </a:p>
          <a:p>
            <a:pPr marL="0" indent="0">
              <a:lnSpc>
                <a:spcPct val="150000"/>
              </a:lnSpc>
              <a:buNone/>
            </a:pPr>
            <a:r>
              <a:rPr lang="en-US" b="1" dirty="0"/>
              <a:t>3. Games </a:t>
            </a:r>
          </a:p>
          <a:p>
            <a:pPr marL="0" indent="0">
              <a:lnSpc>
                <a:spcPct val="150000"/>
              </a:lnSpc>
              <a:buNone/>
            </a:pPr>
            <a:r>
              <a:rPr lang="en-US" dirty="0"/>
              <a:t>Vue.js can be used to develop simple browser-based games or integrate game mechanics into web applications. </a:t>
            </a:r>
          </a:p>
          <a:p>
            <a:pPr marL="0" indent="0">
              <a:lnSpc>
                <a:spcPct val="150000"/>
              </a:lnSpc>
              <a:buNone/>
            </a:pPr>
            <a:r>
              <a:rPr lang="en-US" b="1" dirty="0"/>
              <a:t>Examples: </a:t>
            </a:r>
            <a:r>
              <a:rPr lang="en-US" dirty="0"/>
              <a:t>Browser-based games, educational games.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37710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C50851-4778-46EA-C0A3-66BE82B4AEE7}"/>
              </a:ext>
            </a:extLst>
          </p:cNvPr>
          <p:cNvSpPr>
            <a:spLocks noGrp="1"/>
          </p:cNvSpPr>
          <p:nvPr>
            <p:ph idx="1"/>
          </p:nvPr>
        </p:nvSpPr>
        <p:spPr>
          <a:xfrm>
            <a:off x="741946" y="356135"/>
            <a:ext cx="11193380" cy="5438273"/>
          </a:xfrm>
        </p:spPr>
        <p:txBody>
          <a:bodyPr/>
          <a:lstStyle/>
          <a:p>
            <a:pPr marL="0" indent="0">
              <a:lnSpc>
                <a:spcPct val="150000"/>
              </a:lnSpc>
              <a:buNone/>
            </a:pPr>
            <a:r>
              <a:rPr lang="en-US" b="1" dirty="0"/>
              <a:t>1.1.4: Use command prompt (CMD) </a:t>
            </a:r>
            <a:endParaRPr lang="en-US" dirty="0"/>
          </a:p>
          <a:p>
            <a:pPr marL="0" indent="0">
              <a:lnSpc>
                <a:spcPct val="150000"/>
              </a:lnSpc>
              <a:buNone/>
            </a:pPr>
            <a:r>
              <a:rPr lang="en-US" dirty="0"/>
              <a:t>Using the Command Prompt in Windows allows you to execute various commands to interact with the operating system. Here are the steps to use the Command Prompt: 	</a:t>
            </a:r>
          </a:p>
          <a:p>
            <a:pPr marL="0" indent="0">
              <a:lnSpc>
                <a:spcPct val="150000"/>
              </a:lnSpc>
              <a:buNone/>
            </a:pPr>
            <a:r>
              <a:rPr lang="en-US" b="1" dirty="0"/>
              <a:t>1. Open Command Prompt: </a:t>
            </a:r>
          </a:p>
          <a:p>
            <a:pPr>
              <a:lnSpc>
                <a:spcPct val="150000"/>
              </a:lnSpc>
            </a:pPr>
            <a:r>
              <a:rPr lang="en-US" dirty="0"/>
              <a:t>Press `</a:t>
            </a:r>
            <a:r>
              <a:rPr lang="en-US" b="1" dirty="0"/>
              <a:t>Win + R</a:t>
            </a:r>
            <a:r>
              <a:rPr lang="en-US" dirty="0"/>
              <a:t>` on your keyboard to open the "</a:t>
            </a:r>
            <a:r>
              <a:rPr lang="en-US" b="1" dirty="0"/>
              <a:t>Run</a:t>
            </a:r>
            <a:r>
              <a:rPr lang="en-US" dirty="0"/>
              <a:t>" dialog. </a:t>
            </a:r>
          </a:p>
          <a:p>
            <a:pPr>
              <a:lnSpc>
                <a:spcPct val="150000"/>
              </a:lnSpc>
            </a:pPr>
            <a:r>
              <a:rPr lang="en-US" dirty="0"/>
              <a:t>Type `</a:t>
            </a:r>
            <a:r>
              <a:rPr lang="en-US" b="1" dirty="0" err="1"/>
              <a:t>cmd</a:t>
            </a:r>
            <a:r>
              <a:rPr lang="en-US" dirty="0"/>
              <a:t>` and press Enter to open the Command Prompt window. 	</a:t>
            </a:r>
          </a:p>
          <a:p>
            <a:pPr marL="0" indent="0">
              <a:lnSpc>
                <a:spcPct val="150000"/>
              </a:lnSpc>
              <a:buNone/>
            </a:pPr>
            <a:endParaRPr lang="en-US" dirty="0"/>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759727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B4094-22FD-145E-0DBF-B6081A3A50A6}"/>
              </a:ext>
            </a:extLst>
          </p:cNvPr>
          <p:cNvSpPr>
            <a:spLocks noGrp="1"/>
          </p:cNvSpPr>
          <p:nvPr>
            <p:ph idx="1"/>
          </p:nvPr>
        </p:nvSpPr>
        <p:spPr>
          <a:xfrm>
            <a:off x="881113" y="308007"/>
            <a:ext cx="10929085" cy="5303521"/>
          </a:xfrm>
        </p:spPr>
        <p:txBody>
          <a:bodyPr/>
          <a:lstStyle/>
          <a:p>
            <a:pPr marL="0" indent="0">
              <a:lnSpc>
                <a:spcPct val="150000"/>
              </a:lnSpc>
              <a:buNone/>
            </a:pPr>
            <a:r>
              <a:rPr lang="en-US" b="1" dirty="0"/>
              <a:t>2. Navigate Folders: </a:t>
            </a:r>
          </a:p>
          <a:p>
            <a:pPr>
              <a:lnSpc>
                <a:spcPct val="150000"/>
              </a:lnSpc>
            </a:pPr>
            <a:r>
              <a:rPr lang="en-US" dirty="0"/>
              <a:t>Use the `</a:t>
            </a:r>
            <a:r>
              <a:rPr lang="en-US" b="1" dirty="0"/>
              <a:t>cd</a:t>
            </a:r>
            <a:r>
              <a:rPr lang="en-US" dirty="0"/>
              <a:t>` command to change directories. For example, `cd Desktop` will move you to the Desktop directory. </a:t>
            </a:r>
          </a:p>
          <a:p>
            <a:pPr marL="0" indent="0">
              <a:lnSpc>
                <a:spcPct val="150000"/>
              </a:lnSpc>
              <a:buNone/>
            </a:pPr>
            <a:r>
              <a:rPr lang="en-US" b="1" dirty="0"/>
              <a:t>3. List Files and Folders: </a:t>
            </a:r>
          </a:p>
          <a:p>
            <a:pPr>
              <a:lnSpc>
                <a:spcPct val="150000"/>
              </a:lnSpc>
            </a:pPr>
            <a:r>
              <a:rPr lang="en-US" dirty="0"/>
              <a:t>Use the `</a:t>
            </a:r>
            <a:r>
              <a:rPr lang="en-US" b="1" dirty="0" err="1"/>
              <a:t>dir</a:t>
            </a:r>
            <a:r>
              <a:rPr lang="en-US" dirty="0"/>
              <a:t>` command to list files and folders in the current directory. 	</a:t>
            </a:r>
          </a:p>
          <a:p>
            <a:pPr marL="0" indent="0">
              <a:buNone/>
            </a:pPr>
            <a:endParaRPr lang="en-US" dirty="0"/>
          </a:p>
        </p:txBody>
      </p:sp>
    </p:spTree>
    <p:extLst>
      <p:ext uri="{BB962C8B-B14F-4D97-AF65-F5344CB8AC3E}">
        <p14:creationId xmlns:p14="http://schemas.microsoft.com/office/powerpoint/2010/main" val="31060837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92C76D-CF88-5036-978D-6A7853C99C5A}"/>
              </a:ext>
            </a:extLst>
          </p:cNvPr>
          <p:cNvSpPr>
            <a:spLocks noGrp="1"/>
          </p:cNvSpPr>
          <p:nvPr>
            <p:ph idx="1"/>
          </p:nvPr>
        </p:nvSpPr>
        <p:spPr>
          <a:xfrm>
            <a:off x="607193" y="468462"/>
            <a:ext cx="11241506" cy="5258570"/>
          </a:xfrm>
        </p:spPr>
        <p:txBody>
          <a:bodyPr/>
          <a:lstStyle/>
          <a:p>
            <a:pPr marL="0" indent="0">
              <a:lnSpc>
                <a:spcPct val="150000"/>
              </a:lnSpc>
              <a:buNone/>
            </a:pPr>
            <a:r>
              <a:rPr lang="en-US" b="1" dirty="0"/>
              <a:t>4. Run Programs: </a:t>
            </a:r>
          </a:p>
          <a:p>
            <a:pPr>
              <a:lnSpc>
                <a:spcPct val="150000"/>
              </a:lnSpc>
            </a:pPr>
            <a:r>
              <a:rPr lang="en-US" dirty="0"/>
              <a:t>You can run programs by typing their name and pressing Enter. For example, type `</a:t>
            </a:r>
            <a:r>
              <a:rPr lang="en-US" b="1" dirty="0"/>
              <a:t>notepad</a:t>
            </a:r>
            <a:r>
              <a:rPr lang="en-US" dirty="0"/>
              <a:t>` and press Enter to open Notepad. </a:t>
            </a:r>
          </a:p>
          <a:p>
            <a:pPr marL="0" indent="0">
              <a:lnSpc>
                <a:spcPct val="150000"/>
              </a:lnSpc>
              <a:buNone/>
            </a:pPr>
            <a:r>
              <a:rPr lang="en-US" b="1" dirty="0"/>
              <a:t>5.  Execute Commands: </a:t>
            </a:r>
            <a:endParaRPr lang="en-US" dirty="0"/>
          </a:p>
          <a:p>
            <a:pPr>
              <a:lnSpc>
                <a:spcPct val="150000"/>
              </a:lnSpc>
            </a:pPr>
            <a:r>
              <a:rPr lang="en-US" dirty="0"/>
              <a:t>Type commands and press Enter to execute them. For example, `</a:t>
            </a:r>
            <a:r>
              <a:rPr lang="en-US" b="1" dirty="0"/>
              <a:t>ipconfig</a:t>
            </a:r>
            <a:r>
              <a:rPr lang="en-US" dirty="0"/>
              <a:t>` will display network configuration information. 	</a:t>
            </a:r>
          </a:p>
          <a:p>
            <a:pPr marL="0" indent="0">
              <a:buNone/>
            </a:pPr>
            <a:endParaRPr lang="en-US" b="1" dirty="0"/>
          </a:p>
        </p:txBody>
      </p:sp>
    </p:spTree>
    <p:extLst>
      <p:ext uri="{BB962C8B-B14F-4D97-AF65-F5344CB8AC3E}">
        <p14:creationId xmlns:p14="http://schemas.microsoft.com/office/powerpoint/2010/main" val="4752042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E85D59-E3BF-D13C-AE73-C9908AC662B2}"/>
              </a:ext>
            </a:extLst>
          </p:cNvPr>
          <p:cNvSpPr>
            <a:spLocks noGrp="1"/>
          </p:cNvSpPr>
          <p:nvPr>
            <p:ph idx="1"/>
          </p:nvPr>
        </p:nvSpPr>
        <p:spPr>
          <a:xfrm>
            <a:off x="626443" y="327259"/>
            <a:ext cx="11260757" cy="5601904"/>
          </a:xfrm>
        </p:spPr>
        <p:txBody>
          <a:bodyPr>
            <a:normAutofit/>
          </a:bodyPr>
          <a:lstStyle/>
          <a:p>
            <a:pPr marL="0" indent="0">
              <a:lnSpc>
                <a:spcPct val="150000"/>
              </a:lnSpc>
              <a:buNone/>
            </a:pPr>
            <a:r>
              <a:rPr lang="en-US" b="1" dirty="0"/>
              <a:t>6. Create and Delete Files/Folders: </a:t>
            </a:r>
            <a:endParaRPr lang="en-US" dirty="0"/>
          </a:p>
          <a:p>
            <a:pPr>
              <a:lnSpc>
                <a:spcPct val="150000"/>
              </a:lnSpc>
            </a:pPr>
            <a:r>
              <a:rPr lang="en-US" dirty="0"/>
              <a:t> Use commands like `</a:t>
            </a:r>
            <a:r>
              <a:rPr lang="en-US" dirty="0" err="1"/>
              <a:t>mkdir</a:t>
            </a:r>
            <a:r>
              <a:rPr lang="en-US" dirty="0"/>
              <a:t>` to create a new directory and `del` to delete files. For example, `</a:t>
            </a:r>
            <a:r>
              <a:rPr lang="en-US" dirty="0" err="1"/>
              <a:t>mkdir</a:t>
            </a:r>
            <a:r>
              <a:rPr lang="en-US" dirty="0"/>
              <a:t> </a:t>
            </a:r>
            <a:r>
              <a:rPr lang="en-US" dirty="0" err="1"/>
              <a:t>NewFolder</a:t>
            </a:r>
            <a:r>
              <a:rPr lang="en-US" dirty="0"/>
              <a:t>` creates a new folder named "</a:t>
            </a:r>
            <a:r>
              <a:rPr lang="en-US" dirty="0" err="1"/>
              <a:t>NewFolder</a:t>
            </a:r>
            <a:r>
              <a:rPr lang="en-US" dirty="0"/>
              <a:t>." </a:t>
            </a:r>
          </a:p>
          <a:p>
            <a:pPr marL="0" indent="0">
              <a:lnSpc>
                <a:spcPct val="150000"/>
              </a:lnSpc>
              <a:buNone/>
            </a:pPr>
            <a:r>
              <a:rPr lang="en-US" b="1" dirty="0"/>
              <a:t>7. Copy and Move Files: </a:t>
            </a:r>
            <a:endParaRPr lang="en-US" dirty="0"/>
          </a:p>
          <a:p>
            <a:pPr>
              <a:lnSpc>
                <a:spcPct val="150000"/>
              </a:lnSpc>
            </a:pPr>
            <a:r>
              <a:rPr lang="en-US" dirty="0"/>
              <a:t>Use commands like `copy` to copy files and `move` to move files. For example, `copy file.txt C:\DestinationFolder` copies "file.txt" to "</a:t>
            </a:r>
            <a:r>
              <a:rPr lang="en-US" dirty="0" err="1"/>
              <a:t>DestinationFolder</a:t>
            </a:r>
            <a:r>
              <a:rPr lang="en-US" dirty="0"/>
              <a:t>." 	</a:t>
            </a:r>
          </a:p>
          <a:p>
            <a:pPr marL="0" indent="0">
              <a:buNone/>
            </a:pPr>
            <a:endParaRPr lang="en-US" dirty="0"/>
          </a:p>
        </p:txBody>
      </p:sp>
    </p:spTree>
    <p:extLst>
      <p:ext uri="{BB962C8B-B14F-4D97-AF65-F5344CB8AC3E}">
        <p14:creationId xmlns:p14="http://schemas.microsoft.com/office/powerpoint/2010/main" val="28772396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616074-A26E-A4C7-AE98-4FC52DF74B62}"/>
              </a:ext>
            </a:extLst>
          </p:cNvPr>
          <p:cNvSpPr>
            <a:spLocks noGrp="1"/>
          </p:cNvSpPr>
          <p:nvPr>
            <p:ph idx="1"/>
          </p:nvPr>
        </p:nvSpPr>
        <p:spPr>
          <a:xfrm>
            <a:off x="790072" y="1183907"/>
            <a:ext cx="11231881" cy="5544152"/>
          </a:xfrm>
        </p:spPr>
        <p:txBody>
          <a:bodyPr>
            <a:normAutofit fontScale="92500" lnSpcReduction="10000"/>
          </a:bodyPr>
          <a:lstStyle/>
          <a:p>
            <a:pPr marL="0" indent="0">
              <a:buNone/>
            </a:pPr>
            <a:r>
              <a:rPr lang="en-US" b="1" dirty="0"/>
              <a:t>8. Terminate a Command: </a:t>
            </a:r>
            <a:endParaRPr lang="en-US" dirty="0"/>
          </a:p>
          <a:p>
            <a:r>
              <a:rPr lang="en-US" dirty="0"/>
              <a:t>-Press `Ctrl + C` to terminate a command that is currently running. </a:t>
            </a:r>
          </a:p>
          <a:p>
            <a:pPr marL="0" indent="0">
              <a:buNone/>
            </a:pPr>
            <a:r>
              <a:rPr lang="en-US" b="1" dirty="0"/>
              <a:t>9. Access Help: </a:t>
            </a:r>
            <a:r>
              <a:rPr lang="en-US" dirty="0"/>
              <a:t>	</a:t>
            </a:r>
          </a:p>
          <a:p>
            <a:pPr marL="0" indent="0">
              <a:lnSpc>
                <a:spcPct val="150000"/>
              </a:lnSpc>
              <a:buNone/>
            </a:pPr>
            <a:r>
              <a:rPr lang="en-US" dirty="0"/>
              <a:t>Use the `help` command to get a list of available commands or `command /?` to get help for a specific command. For example, `</a:t>
            </a:r>
            <a:r>
              <a:rPr lang="en-US" dirty="0" err="1"/>
              <a:t>dir</a:t>
            </a:r>
            <a:r>
              <a:rPr lang="en-US" dirty="0"/>
              <a:t> /?` provides information about the `</a:t>
            </a:r>
            <a:r>
              <a:rPr lang="en-US" dirty="0" err="1"/>
              <a:t>dir</a:t>
            </a:r>
            <a:r>
              <a:rPr lang="en-US" dirty="0"/>
              <a:t>` command. </a:t>
            </a:r>
          </a:p>
          <a:p>
            <a:pPr marL="0" indent="0">
              <a:lnSpc>
                <a:spcPct val="160000"/>
              </a:lnSpc>
              <a:buNone/>
            </a:pPr>
            <a:r>
              <a:rPr lang="en-US" b="1" dirty="0"/>
              <a:t>10. Close Command Prompt: </a:t>
            </a:r>
            <a:endParaRPr lang="en-US" dirty="0"/>
          </a:p>
          <a:p>
            <a:pPr>
              <a:lnSpc>
                <a:spcPct val="160000"/>
              </a:lnSpc>
            </a:pPr>
            <a:r>
              <a:rPr lang="en-US" dirty="0"/>
              <a:t>Type `exit` and press Enter to close the Command Prompt window.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288613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D65CD-346E-9FD1-8B19-18B9E345BEBC}"/>
              </a:ext>
            </a:extLst>
          </p:cNvPr>
          <p:cNvSpPr>
            <a:spLocks noGrp="1"/>
          </p:cNvSpPr>
          <p:nvPr>
            <p:ph idx="1"/>
          </p:nvPr>
        </p:nvSpPr>
        <p:spPr>
          <a:xfrm>
            <a:off x="838200" y="625643"/>
            <a:ext cx="10991248" cy="5332396"/>
          </a:xfrm>
        </p:spPr>
        <p:txBody>
          <a:bodyPr/>
          <a:lstStyle/>
          <a:p>
            <a:pPr marL="0" indent="0">
              <a:lnSpc>
                <a:spcPct val="150000"/>
              </a:lnSpc>
              <a:buNone/>
            </a:pPr>
            <a:r>
              <a:rPr lang="en-US" b="1" dirty="0"/>
              <a:t>Create and access a folder using the command prompt in Windows using the </a:t>
            </a:r>
            <a:r>
              <a:rPr lang="en-US" b="1" dirty="0" err="1"/>
              <a:t>mkdir</a:t>
            </a:r>
            <a:r>
              <a:rPr lang="en-US" b="1" dirty="0"/>
              <a:t> and cd commands </a:t>
            </a:r>
            <a:endParaRPr lang="en-US" dirty="0"/>
          </a:p>
          <a:p>
            <a:pPr marL="0" indent="0">
              <a:lnSpc>
                <a:spcPct val="150000"/>
              </a:lnSpc>
              <a:buNone/>
            </a:pPr>
            <a:r>
              <a:rPr lang="en-US" dirty="0"/>
              <a:t>1. Press the Windows key + R to open the "Run" dialog box. </a:t>
            </a:r>
          </a:p>
          <a:p>
            <a:pPr marL="0" indent="0">
              <a:lnSpc>
                <a:spcPct val="150000"/>
              </a:lnSpc>
              <a:buNone/>
            </a:pPr>
            <a:r>
              <a:rPr lang="en-US" dirty="0"/>
              <a:t>2. Type "</a:t>
            </a:r>
            <a:r>
              <a:rPr lang="en-US" dirty="0" err="1"/>
              <a:t>cmd</a:t>
            </a:r>
            <a:r>
              <a:rPr lang="en-US" dirty="0"/>
              <a:t>" or "cmd.exe" and press Enter. </a:t>
            </a:r>
          </a:p>
          <a:p>
            <a:pPr marL="0" indent="0">
              <a:lnSpc>
                <a:spcPct val="150000"/>
              </a:lnSpc>
              <a:buNone/>
            </a:pPr>
            <a:r>
              <a:rPr lang="en-US" dirty="0"/>
              <a:t>3. The Command Prompt window will open, allowing you to type and execute commands. 	</a:t>
            </a:r>
          </a:p>
          <a:p>
            <a:pPr marL="0" indent="0">
              <a:buNone/>
            </a:pPr>
            <a:endParaRPr lang="en-US" dirty="0"/>
          </a:p>
        </p:txBody>
      </p:sp>
    </p:spTree>
    <p:extLst>
      <p:ext uri="{BB962C8B-B14F-4D97-AF65-F5344CB8AC3E}">
        <p14:creationId xmlns:p14="http://schemas.microsoft.com/office/powerpoint/2010/main" val="4189957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95947F-8918-74F7-E89C-200351721247}"/>
              </a:ext>
            </a:extLst>
          </p:cNvPr>
          <p:cNvSpPr>
            <a:spLocks noGrp="1"/>
          </p:cNvSpPr>
          <p:nvPr>
            <p:ph idx="1"/>
          </p:nvPr>
        </p:nvSpPr>
        <p:spPr>
          <a:xfrm>
            <a:off x="596767" y="1174281"/>
            <a:ext cx="11232682" cy="5534527"/>
          </a:xfrm>
        </p:spPr>
        <p:txBody>
          <a:bodyPr/>
          <a:lstStyle/>
          <a:p>
            <a:pPr marL="0" indent="0">
              <a:lnSpc>
                <a:spcPct val="150000"/>
              </a:lnSpc>
              <a:buNone/>
            </a:pPr>
            <a:r>
              <a:rPr lang="en-US" dirty="0"/>
              <a:t>4. Determine the location where you want to create the directory. And then perform the following activities: </a:t>
            </a:r>
          </a:p>
          <a:p>
            <a:pPr marL="0" indent="0">
              <a:lnSpc>
                <a:spcPct val="150000"/>
              </a:lnSpc>
              <a:buNone/>
            </a:pPr>
            <a:r>
              <a:rPr lang="en-US" dirty="0"/>
              <a:t>•Create a directory </a:t>
            </a:r>
            <a:r>
              <a:rPr lang="en-US" dirty="0" err="1"/>
              <a:t>mkdir</a:t>
            </a:r>
            <a:r>
              <a:rPr lang="en-US" dirty="0"/>
              <a:t> directory name </a:t>
            </a:r>
          </a:p>
          <a:p>
            <a:pPr marL="0" indent="0">
              <a:lnSpc>
                <a:spcPct val="150000"/>
              </a:lnSpc>
              <a:buNone/>
            </a:pPr>
            <a:r>
              <a:rPr lang="en-US" dirty="0"/>
              <a:t>•cd (Change Directory) 	</a:t>
            </a:r>
          </a:p>
          <a:p>
            <a:pPr marL="0" indent="0">
              <a:lnSpc>
                <a:spcPct val="150000"/>
              </a:lnSpc>
              <a:buNone/>
            </a:pPr>
            <a:r>
              <a:rPr lang="en-US" dirty="0"/>
              <a:t>•</a:t>
            </a:r>
            <a:r>
              <a:rPr lang="en-US" dirty="0" err="1"/>
              <a:t>dir</a:t>
            </a:r>
            <a:r>
              <a:rPr lang="en-US" dirty="0"/>
              <a:t> [</a:t>
            </a:r>
            <a:r>
              <a:rPr lang="en-US" dirty="0" err="1"/>
              <a:t>directory_path</a:t>
            </a:r>
            <a:r>
              <a:rPr lang="en-US" dirty="0"/>
              <a:t>]: This will list the files and directories in the current directory or the specified directory. 	</a:t>
            </a:r>
          </a:p>
          <a:p>
            <a:pPr marL="0" indent="0">
              <a:lnSpc>
                <a:spcPct val="150000"/>
              </a:lnSpc>
              <a:buNone/>
            </a:pPr>
            <a:r>
              <a:rPr lang="en-US" dirty="0"/>
              <a:t>•</a:t>
            </a:r>
            <a:r>
              <a:rPr lang="en-US" dirty="0" err="1"/>
              <a:t>rmdir</a:t>
            </a:r>
            <a:r>
              <a:rPr lang="en-US" dirty="0"/>
              <a:t> (Remove Directory)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355416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2432E2-DCCB-A62E-0206-0E7379002F90}"/>
              </a:ext>
            </a:extLst>
          </p:cNvPr>
          <p:cNvSpPr>
            <a:spLocks noGrp="1"/>
          </p:cNvSpPr>
          <p:nvPr>
            <p:ph idx="1"/>
          </p:nvPr>
        </p:nvSpPr>
        <p:spPr>
          <a:xfrm>
            <a:off x="614412" y="468630"/>
            <a:ext cx="11227068" cy="6069330"/>
          </a:xfrm>
        </p:spPr>
        <p:txBody>
          <a:bodyPr/>
          <a:lstStyle/>
          <a:p>
            <a:pPr marL="0" indent="0">
              <a:lnSpc>
                <a:spcPct val="150000"/>
              </a:lnSpc>
              <a:buNone/>
            </a:pPr>
            <a:r>
              <a:rPr lang="it-IT" dirty="0"/>
              <a:t>•del [file_name]: Delete a file. </a:t>
            </a:r>
          </a:p>
          <a:p>
            <a:pPr marL="0" indent="0">
              <a:lnSpc>
                <a:spcPct val="150000"/>
              </a:lnSpc>
              <a:buNone/>
            </a:pPr>
            <a:r>
              <a:rPr lang="en-US" dirty="0"/>
              <a:t>•copy [</a:t>
            </a:r>
            <a:r>
              <a:rPr lang="en-US" dirty="0" err="1"/>
              <a:t>source_file_path</a:t>
            </a:r>
            <a:r>
              <a:rPr lang="en-US" dirty="0"/>
              <a:t>] [</a:t>
            </a:r>
            <a:r>
              <a:rPr lang="en-US" dirty="0" err="1"/>
              <a:t>destination_file_path</a:t>
            </a:r>
            <a:r>
              <a:rPr lang="en-US" dirty="0"/>
              <a:t>] : Copy a file from the source path to the destination path. 	</a:t>
            </a:r>
          </a:p>
          <a:p>
            <a:pPr marL="0" indent="0">
              <a:lnSpc>
                <a:spcPct val="150000"/>
              </a:lnSpc>
              <a:buNone/>
            </a:pPr>
            <a:r>
              <a:rPr lang="fr-FR" b="1" dirty="0"/>
              <a:t>Indicative content 1.2: Vue Project Installation </a:t>
            </a:r>
          </a:p>
          <a:p>
            <a:pPr marL="0" indent="0">
              <a:buNone/>
            </a:pPr>
            <a:r>
              <a:rPr lang="en-US" b="1" dirty="0"/>
              <a:t>1.2.1: Description of key terms used in Vue </a:t>
            </a:r>
            <a:r>
              <a:rPr lang="en-US" b="1" dirty="0" err="1"/>
              <a:t>js</a:t>
            </a:r>
            <a:r>
              <a:rPr lang="en-US" b="1" dirty="0"/>
              <a:t> framework </a:t>
            </a:r>
          </a:p>
          <a:p>
            <a:pPr marL="0" indent="0">
              <a:buNone/>
            </a:pPr>
            <a:r>
              <a:rPr lang="en-US" b="1" dirty="0"/>
              <a:t>Framework </a:t>
            </a:r>
            <a:endParaRPr lang="en-US" dirty="0"/>
          </a:p>
          <a:p>
            <a:pPr marL="0" indent="0">
              <a:lnSpc>
                <a:spcPct val="100000"/>
              </a:lnSpc>
              <a:buNone/>
            </a:pPr>
            <a:r>
              <a:rPr lang="en-US" dirty="0"/>
              <a:t>In the context of software development, a framework is a collection of pre-written code, tools, and libraries that provide a structured and reusable foundation for building applications. 	</a:t>
            </a:r>
          </a:p>
          <a:p>
            <a:pPr marL="0" indent="0">
              <a:buNone/>
            </a:pPr>
            <a:endParaRPr lang="en-US" dirty="0"/>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35182372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E08204-3A69-D2B5-BA82-1846C6E3A5AA}"/>
              </a:ext>
            </a:extLst>
          </p:cNvPr>
          <p:cNvSpPr>
            <a:spLocks noGrp="1"/>
          </p:cNvSpPr>
          <p:nvPr>
            <p:ph idx="1"/>
          </p:nvPr>
        </p:nvSpPr>
        <p:spPr>
          <a:xfrm>
            <a:off x="662940" y="331470"/>
            <a:ext cx="11189970" cy="6000750"/>
          </a:xfrm>
        </p:spPr>
        <p:txBody>
          <a:bodyPr>
            <a:normAutofit fontScale="32500" lnSpcReduction="20000"/>
          </a:bodyPr>
          <a:lstStyle/>
          <a:p>
            <a:pPr marL="0" indent="0">
              <a:lnSpc>
                <a:spcPct val="170000"/>
              </a:lnSpc>
              <a:buNone/>
            </a:pPr>
            <a:r>
              <a:rPr lang="en-US" sz="8600" b="1" dirty="0"/>
              <a:t>Key characteristics of frameworks: </a:t>
            </a:r>
            <a:r>
              <a:rPr lang="en-US" sz="8600" dirty="0"/>
              <a:t>Abstraction, Reusability, Structure and conventions, Extensibility, Community and ecosystem,……………	</a:t>
            </a:r>
          </a:p>
          <a:p>
            <a:pPr marL="0" indent="0">
              <a:lnSpc>
                <a:spcPct val="170000"/>
              </a:lnSpc>
              <a:buNone/>
            </a:pPr>
            <a:r>
              <a:rPr lang="en-US" sz="8600" b="1" dirty="0"/>
              <a:t>The most commonly used JavaScript frameworks: </a:t>
            </a:r>
            <a:r>
              <a:rPr lang="en-US" sz="8600" dirty="0"/>
              <a:t>React.js, Angular, Vue.js, Ember.js, Backbone.js, Express.js</a:t>
            </a:r>
          </a:p>
          <a:p>
            <a:pPr marL="0" indent="0">
              <a:lnSpc>
                <a:spcPct val="170000"/>
              </a:lnSpc>
              <a:buNone/>
            </a:pPr>
            <a:r>
              <a:rPr lang="en-US" sz="8600" b="1" dirty="0"/>
              <a:t>The key advantages of using the Vue.js framework</a:t>
            </a:r>
            <a:r>
              <a:rPr lang="en-US" sz="7000" b="1" dirty="0"/>
              <a:t>: </a:t>
            </a:r>
          </a:p>
          <a:p>
            <a:pPr marL="0" indent="0">
              <a:lnSpc>
                <a:spcPct val="170000"/>
              </a:lnSpc>
              <a:buNone/>
            </a:pPr>
            <a:r>
              <a:rPr lang="en-US" sz="8600" b="1" dirty="0"/>
              <a:t>1. Ease of Learning: </a:t>
            </a:r>
            <a:r>
              <a:rPr lang="en-US" sz="8600" dirty="0"/>
              <a:t>Vue.js has a gentle learning curve, making it accessible for beginners. 	</a:t>
            </a:r>
          </a:p>
          <a:p>
            <a:pPr marL="0" indent="0">
              <a:lnSpc>
                <a:spcPct val="170000"/>
              </a:lnSpc>
              <a:buNone/>
            </a:pPr>
            <a:r>
              <a:rPr lang="en-US" dirty="0"/>
              <a:t>	</a:t>
            </a:r>
          </a:p>
          <a:p>
            <a:pPr marL="0" indent="0">
              <a:lnSpc>
                <a:spcPct val="170000"/>
              </a:lnSpc>
              <a:buNone/>
            </a:pPr>
            <a:r>
              <a:rPr lang="en-US" dirty="0"/>
              <a:t>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4168972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8B2023-87D5-A548-1869-90F7B38F6E50}"/>
              </a:ext>
            </a:extLst>
          </p:cNvPr>
          <p:cNvSpPr>
            <a:spLocks noGrp="1"/>
          </p:cNvSpPr>
          <p:nvPr>
            <p:ph idx="1"/>
          </p:nvPr>
        </p:nvSpPr>
        <p:spPr>
          <a:xfrm>
            <a:off x="512445" y="194310"/>
            <a:ext cx="11167110" cy="6160770"/>
          </a:xfrm>
        </p:spPr>
        <p:txBody>
          <a:bodyPr>
            <a:normAutofit fontScale="85000" lnSpcReduction="20000"/>
          </a:bodyPr>
          <a:lstStyle/>
          <a:p>
            <a:pPr marL="0" indent="0">
              <a:lnSpc>
                <a:spcPct val="150000"/>
              </a:lnSpc>
              <a:buNone/>
            </a:pPr>
            <a:r>
              <a:rPr lang="en-US" sz="3300" b="1" dirty="0"/>
              <a:t>2. Flexibility: </a:t>
            </a:r>
            <a:r>
              <a:rPr lang="en-US" sz="3300" dirty="0"/>
              <a:t>Vue.js provides a flexible and adaptable approach to development. It can be used for small, single-page applications or scaled up to build large, complex applications. 	</a:t>
            </a:r>
          </a:p>
          <a:p>
            <a:pPr marL="0" indent="0">
              <a:lnSpc>
                <a:spcPct val="150000"/>
              </a:lnSpc>
              <a:buNone/>
            </a:pPr>
            <a:r>
              <a:rPr lang="en-US" sz="3300" b="1" dirty="0"/>
              <a:t>3. Component-Based Architecture: </a:t>
            </a:r>
            <a:r>
              <a:rPr lang="en-US" sz="3300" dirty="0"/>
              <a:t>Vue.js follows a component-based architecture, which promotes reusability and modular development. Components encapsulate HTML, CSS, and JavaScript logic, making code easier to maintain and debug</a:t>
            </a:r>
          </a:p>
          <a:p>
            <a:pPr marL="0" indent="0">
              <a:lnSpc>
                <a:spcPct val="150000"/>
              </a:lnSpc>
              <a:buNone/>
            </a:pPr>
            <a:r>
              <a:rPr lang="en-US" sz="3300" b="1" dirty="0"/>
              <a:t>4. Reactive Data Binding: </a:t>
            </a:r>
            <a:r>
              <a:rPr lang="en-US" sz="3300" dirty="0"/>
              <a:t>Vue.js uses a reactive data binding system, which allows developers to establish dynamic relationships between the data and the DOM. </a:t>
            </a:r>
            <a:r>
              <a:rPr lang="en-US" dirty="0"/>
              <a:t>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18721100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18935E-9FAF-4487-CEC6-010B12B685B9}"/>
              </a:ext>
            </a:extLst>
          </p:cNvPr>
          <p:cNvSpPr>
            <a:spLocks noGrp="1"/>
          </p:cNvSpPr>
          <p:nvPr>
            <p:ph idx="1"/>
          </p:nvPr>
        </p:nvSpPr>
        <p:spPr>
          <a:xfrm>
            <a:off x="731520" y="445770"/>
            <a:ext cx="11007090" cy="6069330"/>
          </a:xfrm>
        </p:spPr>
        <p:txBody>
          <a:bodyPr>
            <a:normAutofit fontScale="92500" lnSpcReduction="10000"/>
          </a:bodyPr>
          <a:lstStyle/>
          <a:p>
            <a:pPr marL="0" indent="0">
              <a:lnSpc>
                <a:spcPct val="150000"/>
              </a:lnSpc>
              <a:buNone/>
            </a:pPr>
            <a:r>
              <a:rPr lang="en-US" b="1" dirty="0"/>
              <a:t>The steps to develop a JavaScript program: 	</a:t>
            </a:r>
          </a:p>
          <a:p>
            <a:pPr marL="514350" indent="-514350">
              <a:lnSpc>
                <a:spcPct val="150000"/>
              </a:lnSpc>
              <a:buAutoNum type="arabicPeriod"/>
            </a:pPr>
            <a:r>
              <a:rPr lang="en-US" dirty="0"/>
              <a:t>Set Up Your Development Environment</a:t>
            </a:r>
          </a:p>
          <a:p>
            <a:pPr marL="514350" indent="-514350">
              <a:lnSpc>
                <a:spcPct val="150000"/>
              </a:lnSpc>
              <a:buFont typeface="Arial" panose="020B0604020202020204" pitchFamily="34" charset="0"/>
              <a:buAutoNum type="arabicPeriod"/>
            </a:pPr>
            <a:r>
              <a:rPr lang="en-US" dirty="0"/>
              <a:t>Create a New JavaScript File	</a:t>
            </a:r>
          </a:p>
          <a:p>
            <a:pPr marL="514350" indent="-514350">
              <a:lnSpc>
                <a:spcPct val="150000"/>
              </a:lnSpc>
              <a:buFont typeface="Arial" panose="020B0604020202020204" pitchFamily="34" charset="0"/>
              <a:buAutoNum type="arabicPeriod"/>
            </a:pPr>
            <a:r>
              <a:rPr lang="en-US" dirty="0"/>
              <a:t>Write Your JavaScript Code	</a:t>
            </a:r>
          </a:p>
          <a:p>
            <a:pPr marL="514350" indent="-514350">
              <a:lnSpc>
                <a:spcPct val="150000"/>
              </a:lnSpc>
              <a:buFont typeface="Arial" panose="020B0604020202020204" pitchFamily="34" charset="0"/>
              <a:buAutoNum type="arabicPeriod"/>
            </a:pPr>
            <a:r>
              <a:rPr lang="en-US" dirty="0"/>
              <a:t>Debug Your Code</a:t>
            </a:r>
          </a:p>
          <a:p>
            <a:pPr marL="514350" indent="-514350">
              <a:lnSpc>
                <a:spcPct val="150000"/>
              </a:lnSpc>
              <a:buFont typeface="Arial" panose="020B0604020202020204" pitchFamily="34" charset="0"/>
              <a:buAutoNum type="arabicPeriod"/>
            </a:pPr>
            <a:r>
              <a:rPr lang="en-US" dirty="0"/>
              <a:t>Test Your JavaScript Program	</a:t>
            </a:r>
          </a:p>
          <a:p>
            <a:pPr marL="514350" indent="-514350">
              <a:lnSpc>
                <a:spcPct val="150000"/>
              </a:lnSpc>
              <a:buFont typeface="Arial" panose="020B0604020202020204" pitchFamily="34" charset="0"/>
              <a:buAutoNum type="arabicPeriod"/>
            </a:pPr>
            <a:r>
              <a:rPr lang="en-US" dirty="0"/>
              <a:t> Refine and Optimize Your Code</a:t>
            </a:r>
          </a:p>
          <a:p>
            <a:pPr marL="0" indent="0">
              <a:lnSpc>
                <a:spcPct val="150000"/>
              </a:lnSpc>
              <a:buNone/>
            </a:pPr>
            <a:r>
              <a:rPr lang="en-US" dirty="0"/>
              <a:t>	</a:t>
            </a:r>
          </a:p>
          <a:p>
            <a:pPr marL="0" indent="0">
              <a:buNone/>
            </a:pPr>
            <a:r>
              <a:rPr lang="en-US" dirty="0"/>
              <a:t>	</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2240055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0C1B3C-49C7-BE0B-6BDB-63477A5A35FE}"/>
              </a:ext>
            </a:extLst>
          </p:cNvPr>
          <p:cNvSpPr>
            <a:spLocks noGrp="1"/>
          </p:cNvSpPr>
          <p:nvPr>
            <p:ph idx="1"/>
          </p:nvPr>
        </p:nvSpPr>
        <p:spPr>
          <a:xfrm>
            <a:off x="838200" y="628650"/>
            <a:ext cx="11060430" cy="5966460"/>
          </a:xfrm>
        </p:spPr>
        <p:txBody>
          <a:bodyPr>
            <a:normAutofit/>
          </a:bodyPr>
          <a:lstStyle/>
          <a:p>
            <a:pPr marL="0" indent="0">
              <a:lnSpc>
                <a:spcPct val="150000"/>
              </a:lnSpc>
              <a:buNone/>
            </a:pPr>
            <a:r>
              <a:rPr lang="en-US" b="1" dirty="0"/>
              <a:t>Installation of Node.js </a:t>
            </a:r>
            <a:endParaRPr lang="en-US" dirty="0"/>
          </a:p>
          <a:p>
            <a:pPr marL="0" indent="0">
              <a:lnSpc>
                <a:spcPct val="150000"/>
              </a:lnSpc>
              <a:buNone/>
            </a:pPr>
            <a:r>
              <a:rPr lang="en-US" dirty="0"/>
              <a:t>To install Node.js, you can follow these steps:</a:t>
            </a:r>
          </a:p>
          <a:p>
            <a:pPr marL="0" indent="0">
              <a:buNone/>
            </a:pPr>
            <a:r>
              <a:rPr lang="en-US" b="1" dirty="0"/>
              <a:t>Step 1: </a:t>
            </a:r>
            <a:r>
              <a:rPr lang="en-US" dirty="0"/>
              <a:t>Visit the official Node.js website: Go to the official </a:t>
            </a:r>
            <a:r>
              <a:rPr lang="en-US" dirty="0" err="1"/>
              <a:t>Node.j</a:t>
            </a:r>
            <a:endParaRPr lang="pt-BR" dirty="0"/>
          </a:p>
          <a:p>
            <a:pPr marL="0" indent="0">
              <a:buNone/>
            </a:pPr>
            <a:r>
              <a:rPr lang="en-US" dirty="0"/>
              <a:t>at https://nodejs.org/. 	</a:t>
            </a:r>
          </a:p>
          <a:p>
            <a:pPr marL="0" indent="0">
              <a:lnSpc>
                <a:spcPct val="150000"/>
              </a:lnSpc>
              <a:buNone/>
            </a:pPr>
            <a:r>
              <a:rPr lang="en-US" b="1" dirty="0"/>
              <a:t>Step 2: </a:t>
            </a:r>
            <a:r>
              <a:rPr lang="en-US" dirty="0"/>
              <a:t>Choose the appropriate version: Node.js offers two versions: LTS (Long-Term Support) and Current. The LTS version is recommended for most users as it provides stability and support for a longer duration. Select the LTS version unless you have a specific reason to choose the Current version. 	</a:t>
            </a:r>
          </a:p>
          <a:p>
            <a:pPr marL="0" indent="0">
              <a:buNone/>
            </a:pPr>
            <a:endParaRPr lang="en-US" dirty="0"/>
          </a:p>
          <a:p>
            <a:pPr marL="0" indent="0">
              <a:lnSpc>
                <a:spcPct val="150000"/>
              </a:lnSpc>
              <a:buNone/>
            </a:pPr>
            <a:endParaRPr lang="en-US" dirty="0"/>
          </a:p>
          <a:p>
            <a:pPr marL="0" indent="0">
              <a:lnSpc>
                <a:spcPct val="150000"/>
              </a:lnSpc>
              <a:buNone/>
            </a:pPr>
            <a:endParaRPr lang="en-US" dirty="0"/>
          </a:p>
        </p:txBody>
      </p:sp>
    </p:spTree>
    <p:extLst>
      <p:ext uri="{BB962C8B-B14F-4D97-AF65-F5344CB8AC3E}">
        <p14:creationId xmlns:p14="http://schemas.microsoft.com/office/powerpoint/2010/main" val="28487330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C3124D-7252-E910-AB92-DE601B3F7602}"/>
              </a:ext>
            </a:extLst>
          </p:cNvPr>
          <p:cNvSpPr>
            <a:spLocks noGrp="1"/>
          </p:cNvSpPr>
          <p:nvPr>
            <p:ph idx="1"/>
          </p:nvPr>
        </p:nvSpPr>
        <p:spPr>
          <a:xfrm>
            <a:off x="605790" y="708660"/>
            <a:ext cx="11235690" cy="5795010"/>
          </a:xfrm>
        </p:spPr>
        <p:txBody>
          <a:bodyPr/>
          <a:lstStyle/>
          <a:p>
            <a:pPr marL="0" indent="0">
              <a:lnSpc>
                <a:spcPct val="150000"/>
              </a:lnSpc>
              <a:buNone/>
            </a:pPr>
            <a:r>
              <a:rPr lang="en-US" b="1" dirty="0"/>
              <a:t>Step 3: </a:t>
            </a:r>
            <a:r>
              <a:rPr lang="en-US" dirty="0"/>
              <a:t>Download the installer: On the Node.js website, you'll find download buttons for different operating systems (e.g., Windows, macOS, Linux). Click on the button corresponding to your operating system to start the download. </a:t>
            </a:r>
          </a:p>
          <a:p>
            <a:pPr marL="0" indent="0">
              <a:buNone/>
            </a:pPr>
            <a:r>
              <a:rPr lang="en-US" b="1" dirty="0"/>
              <a:t>Step 4: </a:t>
            </a:r>
            <a:r>
              <a:rPr lang="en-US" dirty="0"/>
              <a:t>Run the installer. Once the installer is downloaded, locate the installer file and run it. The installation process will vary depending on your operating system. </a:t>
            </a:r>
          </a:p>
          <a:p>
            <a:pPr marL="0" indent="0">
              <a:buNone/>
            </a:pPr>
            <a:r>
              <a:rPr lang="en-US" dirty="0"/>
              <a:t>for Windows: Double-click the downloaded .</a:t>
            </a:r>
            <a:r>
              <a:rPr lang="en-US" dirty="0" err="1"/>
              <a:t>msi</a:t>
            </a:r>
            <a:r>
              <a:rPr lang="en-US" dirty="0"/>
              <a:t> file and follow the installation wizard. Choose the default options unless you have specific preferences.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24534143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B31E85-E2DF-C2C8-D058-1CBF50766A0C}"/>
              </a:ext>
            </a:extLst>
          </p:cNvPr>
          <p:cNvSpPr>
            <a:spLocks noGrp="1"/>
          </p:cNvSpPr>
          <p:nvPr>
            <p:ph idx="1"/>
          </p:nvPr>
        </p:nvSpPr>
        <p:spPr>
          <a:xfrm>
            <a:off x="685800" y="514350"/>
            <a:ext cx="10668000" cy="5662613"/>
          </a:xfrm>
        </p:spPr>
        <p:txBody>
          <a:bodyPr/>
          <a:lstStyle/>
          <a:p>
            <a:pPr marL="0" indent="0">
              <a:lnSpc>
                <a:spcPct val="150000"/>
              </a:lnSpc>
              <a:buNone/>
            </a:pPr>
            <a:r>
              <a:rPr lang="en-US" b="1" dirty="0"/>
              <a:t>To Verify </a:t>
            </a:r>
            <a:r>
              <a:rPr lang="en-US" b="1" dirty="0" err="1"/>
              <a:t>NodeJs</a:t>
            </a:r>
            <a:r>
              <a:rPr lang="en-US" b="1" dirty="0"/>
              <a:t> is installed, follow these steps: </a:t>
            </a:r>
            <a:endParaRPr lang="en-US" dirty="0"/>
          </a:p>
          <a:p>
            <a:pPr>
              <a:lnSpc>
                <a:spcPct val="150000"/>
              </a:lnSpc>
            </a:pPr>
            <a:r>
              <a:rPr lang="en-US" b="1" dirty="0"/>
              <a:t>Step 1: </a:t>
            </a:r>
            <a:r>
              <a:rPr lang="en-US" dirty="0"/>
              <a:t>After the installation is complete, you can verify that Node.js is installed correctly by opening a command prompt or terminal window and typing the following command: </a:t>
            </a:r>
            <a:r>
              <a:rPr lang="en-US" b="1" dirty="0"/>
              <a:t>node –v. </a:t>
            </a:r>
            <a:r>
              <a:rPr lang="en-US" dirty="0"/>
              <a:t>This command will display the version of Node.js installed on your system. Similarly, you can run the following command to check the version of </a:t>
            </a:r>
            <a:r>
              <a:rPr lang="en-US" dirty="0" err="1"/>
              <a:t>npm</a:t>
            </a:r>
            <a:r>
              <a:rPr lang="en-US" dirty="0"/>
              <a:t> (Node Package Manager) that is installed:  </a:t>
            </a:r>
            <a:r>
              <a:rPr lang="en-US" b="1" dirty="0" err="1"/>
              <a:t>npm</a:t>
            </a:r>
            <a:r>
              <a:rPr lang="en-US" b="1" dirty="0"/>
              <a:t> -v </a:t>
            </a:r>
            <a:r>
              <a:rPr lang="en-US" dirty="0"/>
              <a:t>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53940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8F5507-C2A7-F02C-DDC6-C526CDA9F070}"/>
              </a:ext>
            </a:extLst>
          </p:cNvPr>
          <p:cNvSpPr>
            <a:spLocks noGrp="1"/>
          </p:cNvSpPr>
          <p:nvPr>
            <p:ph idx="1"/>
          </p:nvPr>
        </p:nvSpPr>
        <p:spPr>
          <a:xfrm>
            <a:off x="777240" y="320040"/>
            <a:ext cx="10938510" cy="6080760"/>
          </a:xfrm>
        </p:spPr>
        <p:txBody>
          <a:bodyPr>
            <a:normAutofit fontScale="92500" lnSpcReduction="20000"/>
          </a:bodyPr>
          <a:lstStyle/>
          <a:p>
            <a:pPr marL="0" indent="0">
              <a:buNone/>
            </a:pPr>
            <a:r>
              <a:rPr lang="en-US" sz="3000" b="1" dirty="0"/>
              <a:t>Configure NPM </a:t>
            </a:r>
            <a:r>
              <a:rPr lang="en-US" sz="3000" dirty="0"/>
              <a:t>	</a:t>
            </a:r>
          </a:p>
          <a:p>
            <a:pPr marL="0" indent="0">
              <a:lnSpc>
                <a:spcPct val="150000"/>
              </a:lnSpc>
              <a:buNone/>
            </a:pPr>
            <a:r>
              <a:rPr lang="en-US" sz="3000" dirty="0"/>
              <a:t>After installing Node.js, </a:t>
            </a:r>
            <a:r>
              <a:rPr lang="en-US" sz="3000" b="1" dirty="0" err="1"/>
              <a:t>npm</a:t>
            </a:r>
            <a:r>
              <a:rPr lang="en-US" sz="3000" dirty="0"/>
              <a:t> (Node Package Manager) is automatically installed along with it. However, there are a few initial configurations you can set up for </a:t>
            </a:r>
            <a:r>
              <a:rPr lang="en-US" sz="3000" dirty="0" err="1"/>
              <a:t>npm</a:t>
            </a:r>
            <a:r>
              <a:rPr lang="en-US" sz="3000" dirty="0"/>
              <a:t>. </a:t>
            </a:r>
          </a:p>
          <a:p>
            <a:pPr marL="0" indent="0">
              <a:lnSpc>
                <a:spcPct val="150000"/>
              </a:lnSpc>
              <a:buNone/>
            </a:pPr>
            <a:r>
              <a:rPr lang="en-US" sz="3000" b="1" dirty="0"/>
              <a:t>Here are the steps to configure </a:t>
            </a:r>
            <a:r>
              <a:rPr lang="en-US" sz="3000" b="1" dirty="0" err="1"/>
              <a:t>npm</a:t>
            </a:r>
            <a:r>
              <a:rPr lang="en-US" sz="3000" b="1" dirty="0"/>
              <a:t>: </a:t>
            </a:r>
            <a:endParaRPr lang="en-US" sz="3000" dirty="0"/>
          </a:p>
          <a:p>
            <a:pPr marL="0" indent="0">
              <a:lnSpc>
                <a:spcPct val="150000"/>
              </a:lnSpc>
              <a:buNone/>
            </a:pPr>
            <a:r>
              <a:rPr lang="en-US" sz="3000" b="1" dirty="0"/>
              <a:t>Step 1: </a:t>
            </a:r>
            <a:r>
              <a:rPr lang="en-US" sz="3000" dirty="0"/>
              <a:t>Open a command prompt or terminal: Launch the command prompt </a:t>
            </a:r>
          </a:p>
          <a:p>
            <a:pPr marL="0" indent="0">
              <a:lnSpc>
                <a:spcPct val="150000"/>
              </a:lnSpc>
              <a:buNone/>
            </a:pPr>
            <a:r>
              <a:rPr lang="en-US" sz="3000" b="1" dirty="0"/>
              <a:t>Step 2: </a:t>
            </a:r>
            <a:r>
              <a:rPr lang="en-US" sz="3000" dirty="0"/>
              <a:t>Check </a:t>
            </a:r>
            <a:r>
              <a:rPr lang="en-US" sz="3000" dirty="0" err="1"/>
              <a:t>npm</a:t>
            </a:r>
            <a:r>
              <a:rPr lang="en-US" sz="3000" dirty="0"/>
              <a:t> version: To ensure </a:t>
            </a:r>
            <a:r>
              <a:rPr lang="en-US" sz="3000" dirty="0" err="1"/>
              <a:t>npm</a:t>
            </a:r>
            <a:r>
              <a:rPr lang="en-US" sz="3000" dirty="0"/>
              <a:t> is installed correctly, check its version by running the following command: 	</a:t>
            </a:r>
            <a:r>
              <a:rPr lang="en-US" sz="3000" b="1" dirty="0" err="1"/>
              <a:t>npm</a:t>
            </a:r>
            <a:r>
              <a:rPr lang="en-US" sz="3000" b="1" dirty="0"/>
              <a:t> -v</a:t>
            </a:r>
          </a:p>
          <a:p>
            <a:pPr marL="0" indent="0">
              <a:lnSpc>
                <a:spcPct val="150000"/>
              </a:lnSpc>
              <a:buNone/>
            </a:pPr>
            <a:r>
              <a:rPr lang="en-US" sz="3000" dirty="0"/>
              <a:t>	</a:t>
            </a:r>
          </a:p>
          <a:p>
            <a:pPr marL="0" indent="0">
              <a:buNone/>
            </a:pPr>
            <a:endParaRPr lang="en-US" dirty="0"/>
          </a:p>
        </p:txBody>
      </p:sp>
    </p:spTree>
    <p:extLst>
      <p:ext uri="{BB962C8B-B14F-4D97-AF65-F5344CB8AC3E}">
        <p14:creationId xmlns:p14="http://schemas.microsoft.com/office/powerpoint/2010/main" val="12469604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F96F32-794C-722A-8E86-6544BD0D0A5A}"/>
              </a:ext>
            </a:extLst>
          </p:cNvPr>
          <p:cNvSpPr>
            <a:spLocks noGrp="1"/>
          </p:cNvSpPr>
          <p:nvPr>
            <p:ph idx="1"/>
          </p:nvPr>
        </p:nvSpPr>
        <p:spPr>
          <a:xfrm>
            <a:off x="720090" y="640080"/>
            <a:ext cx="10633710" cy="5536883"/>
          </a:xfrm>
        </p:spPr>
        <p:txBody>
          <a:bodyPr/>
          <a:lstStyle/>
          <a:p>
            <a:pPr marL="0" indent="0">
              <a:lnSpc>
                <a:spcPct val="150000"/>
              </a:lnSpc>
              <a:buNone/>
            </a:pPr>
            <a:r>
              <a:rPr lang="en-US" b="1" dirty="0"/>
              <a:t>Step 3</a:t>
            </a:r>
            <a:r>
              <a:rPr lang="en-US" dirty="0"/>
              <a:t>: Update </a:t>
            </a:r>
            <a:r>
              <a:rPr lang="en-US" dirty="0" err="1"/>
              <a:t>npm</a:t>
            </a:r>
            <a:r>
              <a:rPr lang="en-US" dirty="0"/>
              <a:t> (optional): If you have an older version of </a:t>
            </a:r>
            <a:r>
              <a:rPr lang="en-US" dirty="0" err="1"/>
              <a:t>npm</a:t>
            </a:r>
            <a:r>
              <a:rPr lang="en-US" dirty="0"/>
              <a:t> installed and want to update it to the latest version, you can run the following command:  </a:t>
            </a:r>
            <a:r>
              <a:rPr lang="en-US" b="1" dirty="0" err="1"/>
              <a:t>npm</a:t>
            </a:r>
            <a:r>
              <a:rPr lang="en-US" b="1" dirty="0"/>
              <a:t> install -g </a:t>
            </a:r>
            <a:r>
              <a:rPr lang="en-US" b="1" dirty="0" err="1"/>
              <a:t>npm</a:t>
            </a:r>
            <a:r>
              <a:rPr lang="en-US" b="1" dirty="0"/>
              <a:t> </a:t>
            </a:r>
            <a:r>
              <a:rPr lang="en-US" dirty="0"/>
              <a:t>	</a:t>
            </a:r>
          </a:p>
          <a:p>
            <a:pPr marL="0" indent="0">
              <a:buNone/>
            </a:pPr>
            <a:r>
              <a:rPr lang="en-US" dirty="0"/>
              <a:t>This command will update </a:t>
            </a:r>
            <a:r>
              <a:rPr lang="en-US" dirty="0" err="1"/>
              <a:t>npm</a:t>
            </a:r>
            <a:r>
              <a:rPr lang="en-US" dirty="0"/>
              <a:t> to the latest version available. 	</a:t>
            </a:r>
          </a:p>
          <a:p>
            <a:pPr marL="0" indent="0">
              <a:lnSpc>
                <a:spcPct val="150000"/>
              </a:lnSpc>
              <a:buNone/>
            </a:pPr>
            <a:r>
              <a:rPr lang="en-US" b="1" dirty="0"/>
              <a:t>Step 4</a:t>
            </a:r>
            <a:r>
              <a:rPr lang="en-US" dirty="0"/>
              <a:t>: Set up </a:t>
            </a:r>
            <a:r>
              <a:rPr lang="en-US" dirty="0" err="1"/>
              <a:t>npm</a:t>
            </a:r>
            <a:r>
              <a:rPr lang="en-US" dirty="0"/>
              <a:t> configuration (optional): You can configure </a:t>
            </a:r>
            <a:r>
              <a:rPr lang="en-US" dirty="0" err="1"/>
              <a:t>npm</a:t>
            </a:r>
            <a:r>
              <a:rPr lang="en-US" dirty="0"/>
              <a:t> by setting up your name and email address. This information is used when you publish packages to the </a:t>
            </a:r>
            <a:r>
              <a:rPr lang="en-US" dirty="0" err="1"/>
              <a:t>npm</a:t>
            </a:r>
            <a:r>
              <a:rPr lang="en-US" dirty="0"/>
              <a:t> registry. 	</a:t>
            </a:r>
          </a:p>
          <a:p>
            <a:pPr marL="0" indent="0">
              <a:buNone/>
            </a:pPr>
            <a:endParaRPr lang="en-US" dirty="0"/>
          </a:p>
        </p:txBody>
      </p:sp>
    </p:spTree>
    <p:extLst>
      <p:ext uri="{BB962C8B-B14F-4D97-AF65-F5344CB8AC3E}">
        <p14:creationId xmlns:p14="http://schemas.microsoft.com/office/powerpoint/2010/main" val="114883658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36363A-D27B-D2AD-B3F1-7AA3423F1E02}"/>
              </a:ext>
            </a:extLst>
          </p:cNvPr>
          <p:cNvSpPr>
            <a:spLocks noGrp="1"/>
          </p:cNvSpPr>
          <p:nvPr>
            <p:ph idx="1"/>
          </p:nvPr>
        </p:nvSpPr>
        <p:spPr>
          <a:xfrm>
            <a:off x="592454" y="354330"/>
            <a:ext cx="11100435" cy="5989320"/>
          </a:xfrm>
        </p:spPr>
        <p:txBody>
          <a:bodyPr>
            <a:normAutofit/>
          </a:bodyPr>
          <a:lstStyle/>
          <a:p>
            <a:pPr>
              <a:lnSpc>
                <a:spcPct val="150000"/>
              </a:lnSpc>
            </a:pPr>
            <a:r>
              <a:rPr lang="en-US" dirty="0" err="1"/>
              <a:t>npm</a:t>
            </a:r>
            <a:r>
              <a:rPr lang="en-US" dirty="0"/>
              <a:t> config set </a:t>
            </a:r>
            <a:r>
              <a:rPr lang="en-US" dirty="0" err="1"/>
              <a:t>init.</a:t>
            </a:r>
            <a:r>
              <a:rPr lang="en-US" dirty="0"/>
              <a:t> author. name "Your Name." </a:t>
            </a:r>
          </a:p>
          <a:p>
            <a:pPr>
              <a:lnSpc>
                <a:spcPct val="150000"/>
              </a:lnSpc>
            </a:pPr>
            <a:r>
              <a:rPr lang="en-US" dirty="0" err="1"/>
              <a:t>npm</a:t>
            </a:r>
            <a:r>
              <a:rPr lang="en-US" dirty="0"/>
              <a:t> config set </a:t>
            </a:r>
            <a:r>
              <a:rPr lang="en-US" dirty="0" err="1"/>
              <a:t>init.</a:t>
            </a:r>
            <a:r>
              <a:rPr lang="en-US" dirty="0"/>
              <a:t> </a:t>
            </a:r>
            <a:r>
              <a:rPr lang="en-US" dirty="0" err="1"/>
              <a:t>author.email</a:t>
            </a:r>
            <a:r>
              <a:rPr lang="en-US" dirty="0"/>
              <a:t> "your.email@example.com" 	</a:t>
            </a:r>
          </a:p>
          <a:p>
            <a:pPr marL="0" indent="0">
              <a:lnSpc>
                <a:spcPct val="150000"/>
              </a:lnSpc>
              <a:buNone/>
            </a:pPr>
            <a:r>
              <a:rPr lang="en-US" b="1" dirty="0"/>
              <a:t>Step 5: </a:t>
            </a:r>
            <a:r>
              <a:rPr lang="en-US" dirty="0"/>
              <a:t>Change default package installation directory (optional): By default, </a:t>
            </a:r>
            <a:r>
              <a:rPr lang="en-US" dirty="0" err="1"/>
              <a:t>npm</a:t>
            </a:r>
            <a:r>
              <a:rPr lang="en-US" dirty="0"/>
              <a:t> installs packages in a global directory. 	</a:t>
            </a:r>
          </a:p>
          <a:p>
            <a:pPr marL="0" indent="0">
              <a:lnSpc>
                <a:spcPct val="150000"/>
              </a:lnSpc>
              <a:buNone/>
            </a:pPr>
            <a:r>
              <a:rPr lang="en-US" b="1" dirty="0"/>
              <a:t>Step 6: </a:t>
            </a:r>
            <a:r>
              <a:rPr lang="en-US" dirty="0"/>
              <a:t>Verify the configurations: You can verify the </a:t>
            </a:r>
            <a:r>
              <a:rPr lang="en-US" dirty="0" err="1"/>
              <a:t>npm</a:t>
            </a:r>
            <a:r>
              <a:rPr lang="en-US" dirty="0"/>
              <a:t> configurations by running the following command: </a:t>
            </a:r>
            <a:r>
              <a:rPr lang="en-US" b="1" dirty="0" err="1"/>
              <a:t>npm</a:t>
            </a:r>
            <a:r>
              <a:rPr lang="en-US" b="1" dirty="0"/>
              <a:t> config list </a:t>
            </a:r>
            <a:endParaRPr lang="en-US" dirty="0"/>
          </a:p>
          <a:p>
            <a:pPr marL="0" indent="0">
              <a:lnSpc>
                <a:spcPct val="150000"/>
              </a:lnSpc>
              <a:buNone/>
            </a:pPr>
            <a:r>
              <a:rPr lang="en-US" dirty="0"/>
              <a:t>This command will display the current configurations for </a:t>
            </a:r>
            <a:r>
              <a:rPr lang="en-US" dirty="0" err="1"/>
              <a:t>npm</a:t>
            </a:r>
            <a:r>
              <a:rPr lang="en-US" dirty="0"/>
              <a:t>, including the values you have set. 	</a:t>
            </a:r>
          </a:p>
          <a:p>
            <a:pPr marL="0" indent="0">
              <a:buNone/>
            </a:pPr>
            <a:endParaRPr lang="en-US" dirty="0"/>
          </a:p>
          <a:p>
            <a:endParaRPr lang="en-US" dirty="0"/>
          </a:p>
        </p:txBody>
      </p:sp>
    </p:spTree>
    <p:extLst>
      <p:ext uri="{BB962C8B-B14F-4D97-AF65-F5344CB8AC3E}">
        <p14:creationId xmlns:p14="http://schemas.microsoft.com/office/powerpoint/2010/main" val="40587283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A775B5-6B8F-EF7A-DDCA-B05F4411072D}"/>
              </a:ext>
            </a:extLst>
          </p:cNvPr>
          <p:cNvSpPr>
            <a:spLocks noGrp="1"/>
          </p:cNvSpPr>
          <p:nvPr>
            <p:ph idx="1"/>
          </p:nvPr>
        </p:nvSpPr>
        <p:spPr>
          <a:xfrm>
            <a:off x="342900" y="457200"/>
            <a:ext cx="11269980" cy="6092190"/>
          </a:xfrm>
        </p:spPr>
        <p:txBody>
          <a:bodyPr/>
          <a:lstStyle/>
          <a:p>
            <a:r>
              <a:rPr lang="en-US" b="1" dirty="0"/>
              <a:t>Test JavaScript file using Node.js </a:t>
            </a:r>
          </a:p>
          <a:p>
            <a:pPr marL="0" indent="0">
              <a:buNone/>
            </a:pPr>
            <a:r>
              <a:rPr lang="en-US" b="1" dirty="0"/>
              <a:t>To test a JavaScript file using Node.js, follow these steps: </a:t>
            </a:r>
            <a:endParaRPr lang="en-US" dirty="0"/>
          </a:p>
          <a:p>
            <a:pPr marL="0" indent="0">
              <a:buNone/>
            </a:pPr>
            <a:r>
              <a:rPr lang="en-US" dirty="0"/>
              <a:t>1) Create or locate the JavaScript file you want to run. </a:t>
            </a:r>
          </a:p>
          <a:p>
            <a:pPr marL="0" indent="0">
              <a:buNone/>
            </a:pPr>
            <a:r>
              <a:rPr lang="en-US" dirty="0"/>
              <a:t>2) Open a terminal or command prompt. </a:t>
            </a:r>
          </a:p>
          <a:p>
            <a:pPr marL="0" indent="0">
              <a:buNone/>
            </a:pPr>
            <a:r>
              <a:rPr lang="en-US" dirty="0"/>
              <a:t>3) Navigate to the directory where the JavaScript file is located </a:t>
            </a:r>
          </a:p>
          <a:p>
            <a:pPr marL="0" indent="0">
              <a:buNone/>
            </a:pPr>
            <a:r>
              <a:rPr lang="en-US" dirty="0"/>
              <a:t>4) Replace test.js with the actual filename if it's different. </a:t>
            </a:r>
          </a:p>
          <a:p>
            <a:pPr marL="0" indent="0">
              <a:buNone/>
            </a:pPr>
            <a:r>
              <a:rPr lang="en-US" dirty="0"/>
              <a:t>5) Run the JavaScript file using Node.js by typing the following command: "node filename.js." </a:t>
            </a:r>
          </a:p>
          <a:p>
            <a:pPr marL="0" indent="0">
              <a:buNone/>
            </a:pPr>
            <a:r>
              <a:rPr lang="en-US" dirty="0"/>
              <a:t>6) Press Enter to execute the command. Node.js will run the JavaScript file, and any output or errors will be displayed in the terminal.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6366375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743CF2-F951-89BE-6BC3-C9CC98B2260D}"/>
              </a:ext>
            </a:extLst>
          </p:cNvPr>
          <p:cNvSpPr>
            <a:spLocks noGrp="1"/>
          </p:cNvSpPr>
          <p:nvPr>
            <p:ph idx="1"/>
          </p:nvPr>
        </p:nvSpPr>
        <p:spPr>
          <a:xfrm>
            <a:off x="605790" y="628650"/>
            <a:ext cx="11178540" cy="5909310"/>
          </a:xfrm>
        </p:spPr>
        <p:txBody>
          <a:bodyPr>
            <a:normAutofit fontScale="92500" lnSpcReduction="20000"/>
          </a:bodyPr>
          <a:lstStyle/>
          <a:p>
            <a:pPr marL="0" indent="0">
              <a:lnSpc>
                <a:spcPct val="150000"/>
              </a:lnSpc>
              <a:buNone/>
            </a:pPr>
            <a:r>
              <a:rPr lang="en-US" sz="3000" b="1" dirty="0"/>
              <a:t>1.2.3. Create a Vue project </a:t>
            </a:r>
            <a:endParaRPr lang="en-US" sz="3000" dirty="0"/>
          </a:p>
          <a:p>
            <a:pPr marL="0" indent="0">
              <a:lnSpc>
                <a:spcPct val="150000"/>
              </a:lnSpc>
              <a:buNone/>
            </a:pPr>
            <a:r>
              <a:rPr lang="en-US" sz="3000" dirty="0"/>
              <a:t>To create a new Vue project, you can use Vue CLI (Command Line Interface) to set up a Vue.js project quickly and efficiently. </a:t>
            </a:r>
          </a:p>
          <a:p>
            <a:pPr marL="0" indent="0">
              <a:lnSpc>
                <a:spcPct val="150000"/>
              </a:lnSpc>
              <a:buNone/>
            </a:pPr>
            <a:r>
              <a:rPr lang="en-US" sz="3000" dirty="0"/>
              <a:t>Here are the steps to create a Vue project using Vue CLI: </a:t>
            </a:r>
          </a:p>
          <a:p>
            <a:pPr marL="0" indent="0">
              <a:lnSpc>
                <a:spcPct val="150000"/>
              </a:lnSpc>
              <a:buNone/>
            </a:pPr>
            <a:r>
              <a:rPr lang="en-US" sz="3000" b="1" dirty="0"/>
              <a:t>1. Install Vue CLI: </a:t>
            </a:r>
            <a:endParaRPr lang="en-US" sz="3000" dirty="0"/>
          </a:p>
          <a:p>
            <a:pPr marL="0" indent="0">
              <a:lnSpc>
                <a:spcPct val="150000"/>
              </a:lnSpc>
              <a:buNone/>
            </a:pPr>
            <a:r>
              <a:rPr lang="en-US" sz="3000" dirty="0"/>
              <a:t>Open your command line interface (CLI) and install Vue CLI globally by running the following command: </a:t>
            </a:r>
          </a:p>
          <a:p>
            <a:pPr marL="0" indent="0">
              <a:lnSpc>
                <a:spcPct val="150000"/>
              </a:lnSpc>
              <a:buNone/>
            </a:pPr>
            <a:r>
              <a:rPr lang="en-US" sz="3000" b="1" dirty="0" err="1"/>
              <a:t>npm</a:t>
            </a:r>
            <a:r>
              <a:rPr lang="en-US" sz="3000" b="1" dirty="0"/>
              <a:t> install -g @vue/cli </a:t>
            </a:r>
            <a:r>
              <a:rPr lang="en-US" sz="3000" dirty="0"/>
              <a:t>	</a:t>
            </a:r>
          </a:p>
          <a:p>
            <a:pPr marL="0" indent="0">
              <a:lnSpc>
                <a:spcPct val="150000"/>
              </a:lnSpc>
              <a:buNone/>
            </a:pPr>
            <a:r>
              <a:rPr lang="en-US" sz="3000" dirty="0"/>
              <a:t>	</a:t>
            </a:r>
          </a:p>
          <a:p>
            <a:pPr marL="0" indent="0">
              <a:buNone/>
            </a:pPr>
            <a:endParaRPr lang="en-US" dirty="0"/>
          </a:p>
        </p:txBody>
      </p:sp>
    </p:spTree>
    <p:extLst>
      <p:ext uri="{BB962C8B-B14F-4D97-AF65-F5344CB8AC3E}">
        <p14:creationId xmlns:p14="http://schemas.microsoft.com/office/powerpoint/2010/main" val="6426272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5185FD-03FE-B8BD-5AF4-23036AF2E983}"/>
              </a:ext>
            </a:extLst>
          </p:cNvPr>
          <p:cNvSpPr>
            <a:spLocks noGrp="1"/>
          </p:cNvSpPr>
          <p:nvPr>
            <p:ph idx="1"/>
          </p:nvPr>
        </p:nvSpPr>
        <p:spPr>
          <a:xfrm>
            <a:off x="605790" y="640080"/>
            <a:ext cx="11464290" cy="6103620"/>
          </a:xfrm>
        </p:spPr>
        <p:txBody>
          <a:bodyPr/>
          <a:lstStyle/>
          <a:p>
            <a:pPr marL="0" indent="0">
              <a:lnSpc>
                <a:spcPct val="150000"/>
              </a:lnSpc>
              <a:buNone/>
            </a:pPr>
            <a:r>
              <a:rPr lang="en-US" b="1" dirty="0"/>
              <a:t>2. Create a New Vue Project: </a:t>
            </a:r>
            <a:endParaRPr lang="en-US" dirty="0"/>
          </a:p>
          <a:p>
            <a:pPr marL="0" indent="0">
              <a:lnSpc>
                <a:spcPct val="150000"/>
              </a:lnSpc>
              <a:buNone/>
            </a:pPr>
            <a:r>
              <a:rPr lang="en-US" dirty="0"/>
              <a:t>Once Vue CLI is installed, you can create a new Vue project by running: </a:t>
            </a:r>
          </a:p>
          <a:p>
            <a:pPr marL="0" indent="0">
              <a:lnSpc>
                <a:spcPct val="150000"/>
              </a:lnSpc>
              <a:buNone/>
            </a:pPr>
            <a:r>
              <a:rPr lang="en-US" b="1" dirty="0" err="1"/>
              <a:t>vue</a:t>
            </a:r>
            <a:r>
              <a:rPr lang="en-US" b="1" dirty="0"/>
              <a:t> create my-</a:t>
            </a:r>
            <a:r>
              <a:rPr lang="en-US" b="1" dirty="0" err="1"/>
              <a:t>vue</a:t>
            </a:r>
            <a:r>
              <a:rPr lang="en-US" b="1" dirty="0"/>
              <a:t>-project </a:t>
            </a:r>
          </a:p>
          <a:p>
            <a:pPr marL="0" indent="0">
              <a:lnSpc>
                <a:spcPct val="150000"/>
              </a:lnSpc>
              <a:buNone/>
            </a:pPr>
            <a:r>
              <a:rPr lang="en-US" dirty="0"/>
              <a:t>Replace `my-</a:t>
            </a:r>
            <a:r>
              <a:rPr lang="en-US" dirty="0" err="1"/>
              <a:t>vue</a:t>
            </a:r>
            <a:r>
              <a:rPr lang="en-US" dirty="0"/>
              <a:t>-project` with the name you want to give your Vue project. 	</a:t>
            </a:r>
          </a:p>
          <a:p>
            <a:pPr marL="0" indent="0">
              <a:lnSpc>
                <a:spcPct val="150000"/>
              </a:lnSpc>
              <a:buNone/>
            </a:pPr>
            <a:r>
              <a:rPr lang="en-US" b="1" dirty="0"/>
              <a:t>3. Project Configuration: </a:t>
            </a:r>
            <a:endParaRPr lang="en-US" dirty="0"/>
          </a:p>
          <a:p>
            <a:pPr marL="0" indent="0">
              <a:lnSpc>
                <a:spcPct val="150000"/>
              </a:lnSpc>
              <a:buNone/>
            </a:pPr>
            <a:r>
              <a:rPr lang="en-US" dirty="0"/>
              <a:t>After running the command, you will be prompted to choose a preset for your project configuration. You can select the default preset or manually choose features like </a:t>
            </a:r>
            <a:r>
              <a:rPr lang="en-US" dirty="0" err="1"/>
              <a:t>Vuex</a:t>
            </a:r>
            <a:r>
              <a:rPr lang="en-US" dirty="0"/>
              <a:t>, Router, CSS preprocessors, etc. 	</a:t>
            </a:r>
          </a:p>
          <a:p>
            <a:pPr marL="0" indent="0">
              <a:buNone/>
            </a:pPr>
            <a:endParaRPr lang="en-US" dirty="0"/>
          </a:p>
        </p:txBody>
      </p:sp>
    </p:spTree>
    <p:extLst>
      <p:ext uri="{BB962C8B-B14F-4D97-AF65-F5344CB8AC3E}">
        <p14:creationId xmlns:p14="http://schemas.microsoft.com/office/powerpoint/2010/main" val="36636793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EE0B7C-09B1-4D37-4323-05F186D6B87E}"/>
              </a:ext>
            </a:extLst>
          </p:cNvPr>
          <p:cNvSpPr>
            <a:spLocks noGrp="1"/>
          </p:cNvSpPr>
          <p:nvPr>
            <p:ph idx="1"/>
          </p:nvPr>
        </p:nvSpPr>
        <p:spPr>
          <a:xfrm>
            <a:off x="468630" y="548640"/>
            <a:ext cx="11452860" cy="5852160"/>
          </a:xfrm>
        </p:spPr>
        <p:txBody>
          <a:bodyPr>
            <a:normAutofit fontScale="92500" lnSpcReduction="20000"/>
          </a:bodyPr>
          <a:lstStyle/>
          <a:p>
            <a:pPr marL="0" indent="0">
              <a:lnSpc>
                <a:spcPct val="150000"/>
              </a:lnSpc>
              <a:buNone/>
            </a:pPr>
            <a:r>
              <a:rPr lang="en-US" b="1" dirty="0"/>
              <a:t>4. Navigate to Project Directory: </a:t>
            </a:r>
            <a:r>
              <a:rPr lang="en-US" dirty="0"/>
              <a:t>	</a:t>
            </a:r>
          </a:p>
          <a:p>
            <a:pPr marL="0" indent="0">
              <a:lnSpc>
                <a:spcPct val="150000"/>
              </a:lnSpc>
              <a:buNone/>
            </a:pPr>
            <a:r>
              <a:rPr lang="en-US" dirty="0"/>
              <a:t>Change your directory to the newly created Vue project by running: </a:t>
            </a:r>
          </a:p>
          <a:p>
            <a:pPr marL="0" indent="0">
              <a:lnSpc>
                <a:spcPct val="150000"/>
              </a:lnSpc>
              <a:buNone/>
            </a:pPr>
            <a:r>
              <a:rPr lang="en-US" b="1" dirty="0"/>
              <a:t>cd my-</a:t>
            </a:r>
            <a:r>
              <a:rPr lang="en-US" b="1" dirty="0" err="1"/>
              <a:t>vue</a:t>
            </a:r>
            <a:r>
              <a:rPr lang="en-US" b="1" dirty="0"/>
              <a:t>-project 	</a:t>
            </a:r>
          </a:p>
          <a:p>
            <a:pPr marL="0" indent="0">
              <a:lnSpc>
                <a:spcPct val="150000"/>
              </a:lnSpc>
              <a:buNone/>
            </a:pPr>
            <a:r>
              <a:rPr lang="en-US" b="1" dirty="0"/>
              <a:t>5. Run the Development Server: </a:t>
            </a:r>
            <a:endParaRPr lang="en-US" dirty="0"/>
          </a:p>
          <a:p>
            <a:pPr marL="0" indent="0">
              <a:lnSpc>
                <a:spcPct val="150000"/>
              </a:lnSpc>
              <a:buNone/>
            </a:pPr>
            <a:r>
              <a:rPr lang="en-US" dirty="0"/>
              <a:t>Start the development server to preview your Vue project by running: </a:t>
            </a:r>
          </a:p>
          <a:p>
            <a:pPr marL="0" indent="0">
              <a:lnSpc>
                <a:spcPct val="150000"/>
              </a:lnSpc>
              <a:buNone/>
            </a:pPr>
            <a:r>
              <a:rPr lang="en-US" b="1" dirty="0" err="1"/>
              <a:t>npm</a:t>
            </a:r>
            <a:r>
              <a:rPr lang="en-US" b="1" dirty="0"/>
              <a:t> run serve </a:t>
            </a:r>
            <a:r>
              <a:rPr lang="en-US" dirty="0"/>
              <a:t>	</a:t>
            </a:r>
          </a:p>
          <a:p>
            <a:pPr marL="0" indent="0">
              <a:lnSpc>
                <a:spcPct val="150000"/>
              </a:lnSpc>
              <a:buNone/>
            </a:pPr>
            <a:r>
              <a:rPr lang="en-US" b="1" dirty="0"/>
              <a:t>6. Access Your Vue Project: </a:t>
            </a:r>
            <a:endParaRPr lang="en-US" dirty="0"/>
          </a:p>
          <a:p>
            <a:pPr marL="0" indent="0">
              <a:lnSpc>
                <a:spcPct val="150000"/>
              </a:lnSpc>
              <a:buNone/>
            </a:pPr>
            <a:r>
              <a:rPr lang="en-US" dirty="0"/>
              <a:t>Open a web browser and navigate to the URL provided by the Vue CLI after starting the development server (usually `http://localhost:8080`).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005061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2FE5B9-BD74-BEDE-3236-881BB253EE04}"/>
              </a:ext>
            </a:extLst>
          </p:cNvPr>
          <p:cNvSpPr>
            <a:spLocks noGrp="1"/>
          </p:cNvSpPr>
          <p:nvPr>
            <p:ph idx="1"/>
          </p:nvPr>
        </p:nvSpPr>
        <p:spPr>
          <a:xfrm>
            <a:off x="754380" y="662940"/>
            <a:ext cx="10599420" cy="5514023"/>
          </a:xfrm>
        </p:spPr>
        <p:txBody>
          <a:bodyPr/>
          <a:lstStyle/>
          <a:p>
            <a:pPr marL="0" indent="0">
              <a:lnSpc>
                <a:spcPct val="150000"/>
              </a:lnSpc>
              <a:buNone/>
            </a:pPr>
            <a:r>
              <a:rPr lang="en-US" b="1" dirty="0"/>
              <a:t>7. Start Coding: </a:t>
            </a:r>
            <a:endParaRPr lang="en-US" dirty="0"/>
          </a:p>
          <a:p>
            <a:pPr marL="0" indent="0">
              <a:lnSpc>
                <a:spcPct val="150000"/>
              </a:lnSpc>
              <a:buNone/>
            </a:pPr>
            <a:r>
              <a:rPr lang="en-US" dirty="0"/>
              <a:t>You can now start coding your Vue project. Edit the files in the project directory, create Vue components, and customize the project as needed. 	</a:t>
            </a:r>
          </a:p>
          <a:p>
            <a:pPr marL="0" indent="0">
              <a:lnSpc>
                <a:spcPct val="150000"/>
              </a:lnSpc>
              <a:buNone/>
            </a:pPr>
            <a:r>
              <a:rPr lang="en-US" b="1" dirty="0"/>
              <a:t>Install Vue CLI </a:t>
            </a:r>
          </a:p>
          <a:p>
            <a:pPr marL="0" indent="0">
              <a:lnSpc>
                <a:spcPct val="150000"/>
              </a:lnSpc>
              <a:buNone/>
            </a:pPr>
            <a:r>
              <a:rPr lang="en-US" dirty="0"/>
              <a:t>To install Vue CLI (Command Line Interface) using </a:t>
            </a:r>
            <a:r>
              <a:rPr lang="en-US" dirty="0" err="1"/>
              <a:t>npm</a:t>
            </a:r>
            <a:r>
              <a:rPr lang="en-US" dirty="0"/>
              <a:t> (Node Package Manager), follow these steps: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311334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FF2B6E-FB97-554F-F813-8F5F51B8301A}"/>
              </a:ext>
            </a:extLst>
          </p:cNvPr>
          <p:cNvSpPr>
            <a:spLocks noGrp="1"/>
          </p:cNvSpPr>
          <p:nvPr>
            <p:ph idx="1"/>
          </p:nvPr>
        </p:nvSpPr>
        <p:spPr>
          <a:xfrm>
            <a:off x="777240" y="571500"/>
            <a:ext cx="10576560" cy="5605463"/>
          </a:xfrm>
        </p:spPr>
        <p:txBody>
          <a:bodyPr/>
          <a:lstStyle/>
          <a:p>
            <a:pPr marL="0" indent="0">
              <a:lnSpc>
                <a:spcPct val="150000"/>
              </a:lnSpc>
              <a:buNone/>
            </a:pPr>
            <a:r>
              <a:rPr lang="en-US" b="1" dirty="0"/>
              <a:t>1. Open a terminal or command prompt on your computer. </a:t>
            </a:r>
            <a:endParaRPr lang="en-US" dirty="0"/>
          </a:p>
          <a:p>
            <a:pPr marL="0" indent="0">
              <a:lnSpc>
                <a:spcPct val="150000"/>
              </a:lnSpc>
              <a:buNone/>
            </a:pPr>
            <a:r>
              <a:rPr lang="en-US" b="1" dirty="0"/>
              <a:t>2. Ensure that Node.js is installed on your system. </a:t>
            </a:r>
            <a:endParaRPr lang="en-US" dirty="0"/>
          </a:p>
          <a:p>
            <a:pPr marL="0" indent="0">
              <a:lnSpc>
                <a:spcPct val="150000"/>
              </a:lnSpc>
              <a:buNone/>
            </a:pPr>
            <a:r>
              <a:rPr lang="en-US" dirty="0"/>
              <a:t>If Node.js is not installed, please visit the Node.js website (https://nodejs.org) and follow the installation instructions specific to your operating system. </a:t>
            </a:r>
          </a:p>
          <a:p>
            <a:pPr marL="0" indent="0">
              <a:lnSpc>
                <a:spcPct val="150000"/>
              </a:lnSpc>
              <a:buNone/>
            </a:pPr>
            <a:r>
              <a:rPr lang="en-US" dirty="0"/>
              <a:t>Once you have Node.js installed, you automatically have </a:t>
            </a:r>
            <a:r>
              <a:rPr lang="en-US" dirty="0" err="1"/>
              <a:t>npm</a:t>
            </a:r>
            <a:r>
              <a:rPr lang="en-US" dirty="0"/>
              <a:t> available as well. Verify that </a:t>
            </a:r>
            <a:r>
              <a:rPr lang="en-US" dirty="0" err="1"/>
              <a:t>npm</a:t>
            </a:r>
            <a:r>
              <a:rPr lang="en-US" dirty="0"/>
              <a:t> is installed 	</a:t>
            </a:r>
          </a:p>
          <a:p>
            <a:pPr marL="0" indent="0">
              <a:buNone/>
            </a:pPr>
            <a:endParaRPr lang="en-US" dirty="0"/>
          </a:p>
        </p:txBody>
      </p:sp>
    </p:spTree>
    <p:extLst>
      <p:ext uri="{BB962C8B-B14F-4D97-AF65-F5344CB8AC3E}">
        <p14:creationId xmlns:p14="http://schemas.microsoft.com/office/powerpoint/2010/main" val="12753950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FBC75C-02A9-FAFE-18CE-B9346CB48CE9}"/>
              </a:ext>
            </a:extLst>
          </p:cNvPr>
          <p:cNvSpPr>
            <a:spLocks noGrp="1"/>
          </p:cNvSpPr>
          <p:nvPr>
            <p:ph idx="1"/>
          </p:nvPr>
        </p:nvSpPr>
        <p:spPr>
          <a:xfrm>
            <a:off x="697230" y="594360"/>
            <a:ext cx="11041380" cy="5989320"/>
          </a:xfrm>
        </p:spPr>
        <p:txBody>
          <a:bodyPr>
            <a:normAutofit lnSpcReduction="10000"/>
          </a:bodyPr>
          <a:lstStyle/>
          <a:p>
            <a:pPr marL="0" indent="0">
              <a:lnSpc>
                <a:spcPct val="150000"/>
              </a:lnSpc>
              <a:buNone/>
            </a:pPr>
            <a:r>
              <a:rPr lang="en-US" b="1" dirty="0"/>
              <a:t>3. Install Vue CLI globally by using the related command. </a:t>
            </a:r>
            <a:endParaRPr lang="en-US" dirty="0"/>
          </a:p>
          <a:p>
            <a:pPr marL="0" indent="0">
              <a:lnSpc>
                <a:spcPct val="150000"/>
              </a:lnSpc>
              <a:buNone/>
            </a:pPr>
            <a:r>
              <a:rPr lang="en-US" b="1" dirty="0" err="1"/>
              <a:t>npm</a:t>
            </a:r>
            <a:r>
              <a:rPr lang="en-US" b="1" dirty="0"/>
              <a:t> install -g @vue/cli </a:t>
            </a:r>
          </a:p>
          <a:p>
            <a:pPr marL="0" indent="0">
              <a:lnSpc>
                <a:spcPct val="150000"/>
              </a:lnSpc>
              <a:buNone/>
            </a:pPr>
            <a:r>
              <a:rPr lang="en-US" dirty="0"/>
              <a:t>The -g flag is used to install the package globally on your system, allowing you to use the </a:t>
            </a:r>
            <a:r>
              <a:rPr lang="en-US" dirty="0" err="1"/>
              <a:t>vue</a:t>
            </a:r>
            <a:r>
              <a:rPr lang="en-US" dirty="0"/>
              <a:t> command from any directory. 	</a:t>
            </a:r>
            <a:endParaRPr lang="en-US" b="1" dirty="0"/>
          </a:p>
          <a:p>
            <a:pPr marL="0" indent="0">
              <a:lnSpc>
                <a:spcPct val="150000"/>
              </a:lnSpc>
              <a:buNone/>
            </a:pPr>
            <a:r>
              <a:rPr lang="en-US" b="1" dirty="0"/>
              <a:t>Initiate a Vue Project using the terminal </a:t>
            </a:r>
          </a:p>
          <a:p>
            <a:pPr marL="0" indent="0">
              <a:lnSpc>
                <a:spcPct val="150000"/>
              </a:lnSpc>
              <a:buNone/>
            </a:pPr>
            <a:r>
              <a:rPr lang="en-US" dirty="0"/>
              <a:t>To initiate a new Vue project using the terminal and Vue CLI, you can follow these steps: 	</a:t>
            </a:r>
          </a:p>
          <a:p>
            <a:pPr marL="0" indent="0">
              <a:buNone/>
            </a:pPr>
            <a:r>
              <a:rPr lang="en-US" dirty="0"/>
              <a:t>	</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13198531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EDD91D-3290-0B86-5D78-463284CE62C3}"/>
              </a:ext>
            </a:extLst>
          </p:cNvPr>
          <p:cNvSpPr>
            <a:spLocks noGrp="1"/>
          </p:cNvSpPr>
          <p:nvPr>
            <p:ph idx="1"/>
          </p:nvPr>
        </p:nvSpPr>
        <p:spPr>
          <a:xfrm>
            <a:off x="720090" y="571500"/>
            <a:ext cx="11087100" cy="5715000"/>
          </a:xfrm>
        </p:spPr>
        <p:txBody>
          <a:bodyPr/>
          <a:lstStyle/>
          <a:p>
            <a:pPr marL="0" indent="0">
              <a:lnSpc>
                <a:spcPct val="150000"/>
              </a:lnSpc>
              <a:buNone/>
            </a:pPr>
            <a:r>
              <a:rPr lang="en-US" b="1" dirty="0"/>
              <a:t>Step 1: </a:t>
            </a:r>
            <a:r>
              <a:rPr lang="en-US" dirty="0"/>
              <a:t>Open a command prompt or terminal: Launch the command prompt (Windows)on your system. </a:t>
            </a:r>
          </a:p>
          <a:p>
            <a:pPr marL="0" indent="0">
              <a:lnSpc>
                <a:spcPct val="150000"/>
              </a:lnSpc>
              <a:buNone/>
            </a:pPr>
            <a:r>
              <a:rPr lang="en-US" b="1" dirty="0"/>
              <a:t>Step 2: </a:t>
            </a:r>
            <a:r>
              <a:rPr lang="en-US" dirty="0"/>
              <a:t>Create a new Vue project: Run the following command to create a new Vue project using Vue CLI: 	</a:t>
            </a:r>
          </a:p>
          <a:p>
            <a:pPr marL="0" indent="0">
              <a:lnSpc>
                <a:spcPct val="150000"/>
              </a:lnSpc>
              <a:buNone/>
            </a:pPr>
            <a:r>
              <a:rPr lang="en-US" b="1" dirty="0" err="1"/>
              <a:t>vue</a:t>
            </a:r>
            <a:r>
              <a:rPr lang="en-US" b="1" dirty="0"/>
              <a:t> create project-name </a:t>
            </a:r>
            <a:endParaRPr lang="en-US" dirty="0"/>
          </a:p>
          <a:p>
            <a:pPr marL="0" indent="0">
              <a:lnSpc>
                <a:spcPct val="150000"/>
              </a:lnSpc>
              <a:buNone/>
            </a:pPr>
            <a:r>
              <a:rPr lang="en-US" dirty="0"/>
              <a:t>Replace "project-name" with the desired name for your project. This command will create a new directory with the specified name and scaffold a basic Vue project inside it. 	</a:t>
            </a:r>
          </a:p>
          <a:p>
            <a:pPr marL="0" indent="0">
              <a:buNone/>
            </a:pPr>
            <a:endParaRPr lang="en-US" dirty="0"/>
          </a:p>
        </p:txBody>
      </p:sp>
    </p:spTree>
    <p:extLst>
      <p:ext uri="{BB962C8B-B14F-4D97-AF65-F5344CB8AC3E}">
        <p14:creationId xmlns:p14="http://schemas.microsoft.com/office/powerpoint/2010/main" val="35184188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9B0723-C845-8F00-10DD-70B2BE1C2803}"/>
              </a:ext>
            </a:extLst>
          </p:cNvPr>
          <p:cNvSpPr>
            <a:spLocks noGrp="1"/>
          </p:cNvSpPr>
          <p:nvPr>
            <p:ph idx="1"/>
          </p:nvPr>
        </p:nvSpPr>
        <p:spPr>
          <a:xfrm>
            <a:off x="845820" y="262890"/>
            <a:ext cx="10812780" cy="6355080"/>
          </a:xfrm>
        </p:spPr>
        <p:txBody>
          <a:bodyPr>
            <a:normAutofit fontScale="25000" lnSpcReduction="20000"/>
          </a:bodyPr>
          <a:lstStyle/>
          <a:p>
            <a:pPr marL="0" indent="0">
              <a:lnSpc>
                <a:spcPct val="170000"/>
              </a:lnSpc>
              <a:buNone/>
            </a:pPr>
            <a:r>
              <a:rPr lang="en-US" sz="10400" b="1" dirty="0"/>
              <a:t>Indicative content 1.3: Description of Vue Project Folder &amp; Files</a:t>
            </a:r>
          </a:p>
          <a:p>
            <a:pPr marL="0" indent="0">
              <a:lnSpc>
                <a:spcPct val="170000"/>
              </a:lnSpc>
              <a:buNone/>
            </a:pPr>
            <a:r>
              <a:rPr lang="en-US" sz="10400" b="1" dirty="0"/>
              <a:t>1.3.1: Description of Folder and file structure in </a:t>
            </a:r>
            <a:r>
              <a:rPr lang="en-US" sz="10400" b="1" dirty="0" err="1"/>
              <a:t>vue</a:t>
            </a:r>
            <a:r>
              <a:rPr lang="en-US" sz="10400" b="1" dirty="0"/>
              <a:t> </a:t>
            </a:r>
            <a:r>
              <a:rPr lang="en-US" sz="10400" b="1" dirty="0" err="1"/>
              <a:t>js</a:t>
            </a:r>
            <a:r>
              <a:rPr lang="en-US" sz="10400" b="1" dirty="0"/>
              <a:t> project </a:t>
            </a:r>
          </a:p>
          <a:p>
            <a:pPr marL="0" indent="0">
              <a:lnSpc>
                <a:spcPct val="170000"/>
              </a:lnSpc>
              <a:buNone/>
            </a:pPr>
            <a:r>
              <a:rPr lang="en-US" sz="10400" b="1" dirty="0"/>
              <a:t>1. </a:t>
            </a:r>
            <a:r>
              <a:rPr lang="en-US" sz="10400" b="1" dirty="0" err="1"/>
              <a:t>node_modules</a:t>
            </a:r>
            <a:r>
              <a:rPr lang="en-US" sz="10400" b="1" dirty="0"/>
              <a:t>: </a:t>
            </a:r>
            <a:r>
              <a:rPr lang="en-US" sz="10400" dirty="0"/>
              <a:t>This folder is automatically created by </a:t>
            </a:r>
            <a:r>
              <a:rPr lang="en-US" sz="10400" dirty="0" err="1"/>
              <a:t>npm</a:t>
            </a:r>
            <a:r>
              <a:rPr lang="en-US" sz="10400" dirty="0"/>
              <a:t> or Yarn when installing project dependencies. It contains all the dependencies specified in the project's </a:t>
            </a:r>
            <a:r>
              <a:rPr lang="en-US" sz="10400" dirty="0" err="1"/>
              <a:t>package.json</a:t>
            </a:r>
            <a:r>
              <a:rPr lang="en-US" sz="10400" dirty="0"/>
              <a:t> file. 	 It contains all the dependencies specified in the project's </a:t>
            </a:r>
            <a:r>
              <a:rPr lang="en-US" sz="10400" dirty="0" err="1"/>
              <a:t>package.json</a:t>
            </a:r>
            <a:r>
              <a:rPr lang="en-US" sz="10400" dirty="0"/>
              <a:t> file. 	</a:t>
            </a:r>
          </a:p>
          <a:p>
            <a:pPr marL="0" indent="0">
              <a:lnSpc>
                <a:spcPct val="170000"/>
              </a:lnSpc>
              <a:buNone/>
            </a:pPr>
            <a:r>
              <a:rPr lang="en-US" sz="10400" b="1" dirty="0"/>
              <a:t>2. Public folder: </a:t>
            </a:r>
            <a:r>
              <a:rPr lang="en-US" sz="10400" dirty="0"/>
              <a:t>In a Vue.js project, the term "public" refers to a specific directory within the project structure. The "public" directory is the default location for static assets that need to be publicly accessible by the application. This includes HTML files, images, fonts, and other resources. 	</a:t>
            </a:r>
          </a:p>
          <a:p>
            <a:pPr marL="0" indent="0">
              <a:lnSpc>
                <a:spcPct val="170000"/>
              </a:lnSpc>
              <a:buNone/>
            </a:pPr>
            <a:r>
              <a:rPr lang="en-US" sz="6500" dirty="0"/>
              <a:t> 	</a:t>
            </a:r>
          </a:p>
          <a:p>
            <a:pPr marL="0" indent="0">
              <a:buNone/>
            </a:pPr>
            <a:endParaRPr lang="en-US" dirty="0"/>
          </a:p>
        </p:txBody>
      </p:sp>
    </p:spTree>
    <p:extLst>
      <p:ext uri="{BB962C8B-B14F-4D97-AF65-F5344CB8AC3E}">
        <p14:creationId xmlns:p14="http://schemas.microsoft.com/office/powerpoint/2010/main" val="14397403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9DA6DC-3B98-09A2-7828-6DED6159246A}"/>
              </a:ext>
            </a:extLst>
          </p:cNvPr>
          <p:cNvSpPr>
            <a:spLocks noGrp="1"/>
          </p:cNvSpPr>
          <p:nvPr>
            <p:ph idx="1"/>
          </p:nvPr>
        </p:nvSpPr>
        <p:spPr>
          <a:xfrm>
            <a:off x="662940" y="422910"/>
            <a:ext cx="10690860" cy="5754053"/>
          </a:xfrm>
        </p:spPr>
        <p:txBody>
          <a:bodyPr/>
          <a:lstStyle/>
          <a:p>
            <a:pPr marL="0" indent="0">
              <a:lnSpc>
                <a:spcPct val="150000"/>
              </a:lnSpc>
              <a:buNone/>
            </a:pPr>
            <a:r>
              <a:rPr lang="en-US" b="1" dirty="0"/>
              <a:t>3. </a:t>
            </a:r>
            <a:r>
              <a:rPr lang="en-US" b="1" dirty="0" err="1"/>
              <a:t>src</a:t>
            </a:r>
            <a:r>
              <a:rPr lang="en-US" b="1" dirty="0"/>
              <a:t>: </a:t>
            </a:r>
            <a:r>
              <a:rPr lang="en-US" dirty="0"/>
              <a:t>The </a:t>
            </a:r>
            <a:r>
              <a:rPr lang="en-US" dirty="0" err="1"/>
              <a:t>src</a:t>
            </a:r>
            <a:r>
              <a:rPr lang="en-US" dirty="0"/>
              <a:t> (source) folder is where the main source code of the Vue.js project resides. It contains the application's JavaScript files, Vue components, stylesheets, and other related files. 	</a:t>
            </a:r>
          </a:p>
          <a:p>
            <a:pPr marL="0" indent="0">
              <a:lnSpc>
                <a:spcPct val="150000"/>
              </a:lnSpc>
              <a:buNone/>
            </a:pPr>
            <a:r>
              <a:rPr lang="en-US" b="1" dirty="0"/>
              <a:t>Here's a breakdown of the "</a:t>
            </a:r>
            <a:r>
              <a:rPr lang="en-US" b="1" dirty="0" err="1"/>
              <a:t>src</a:t>
            </a:r>
            <a:r>
              <a:rPr lang="en-US" b="1" dirty="0"/>
              <a:t>" directory and its contents in a Vue project: 	</a:t>
            </a:r>
          </a:p>
          <a:p>
            <a:pPr marL="0" indent="0">
              <a:lnSpc>
                <a:spcPct val="150000"/>
              </a:lnSpc>
              <a:buNone/>
            </a:pPr>
            <a:r>
              <a:rPr lang="en-US" dirty="0"/>
              <a:t>1. main.js: This file serves as the entry point of the Vue application. It initializes the Vue instance and mounts it to the DOM, typically targeting the "index.html" file. 	</a:t>
            </a:r>
          </a:p>
          <a:p>
            <a:pPr marL="0" indent="0">
              <a:lnSpc>
                <a:spcPct val="150000"/>
              </a:lnSpc>
              <a:buNone/>
            </a:pPr>
            <a:endParaRPr lang="en-US" dirty="0"/>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16445544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D7504B-A59F-D780-6574-B01936E8DD6F}"/>
              </a:ext>
            </a:extLst>
          </p:cNvPr>
          <p:cNvSpPr>
            <a:spLocks noGrp="1"/>
          </p:cNvSpPr>
          <p:nvPr>
            <p:ph idx="1"/>
          </p:nvPr>
        </p:nvSpPr>
        <p:spPr>
          <a:xfrm>
            <a:off x="697230" y="605790"/>
            <a:ext cx="11235690" cy="5943600"/>
          </a:xfrm>
        </p:spPr>
        <p:txBody>
          <a:bodyPr>
            <a:normAutofit/>
          </a:bodyPr>
          <a:lstStyle/>
          <a:p>
            <a:pPr marL="0" indent="0">
              <a:lnSpc>
                <a:spcPct val="150000"/>
              </a:lnSpc>
              <a:buNone/>
            </a:pPr>
            <a:r>
              <a:rPr lang="en-US" dirty="0"/>
              <a:t>2</a:t>
            </a:r>
            <a:r>
              <a:rPr lang="en-US" b="1" dirty="0"/>
              <a:t>. </a:t>
            </a:r>
            <a:r>
              <a:rPr lang="en-US" b="1" dirty="0" err="1"/>
              <a:t>App.vue</a:t>
            </a:r>
            <a:r>
              <a:rPr lang="en-US" b="1" dirty="0"/>
              <a:t>: </a:t>
            </a:r>
            <a:r>
              <a:rPr lang="en-US" dirty="0"/>
              <a:t>This is the root component of the Vue application. It acts as a container for other components and defines the overall structure and layout of the application. 	</a:t>
            </a:r>
          </a:p>
          <a:p>
            <a:pPr marL="0" indent="0">
              <a:lnSpc>
                <a:spcPct val="150000"/>
              </a:lnSpc>
              <a:buNone/>
            </a:pPr>
            <a:r>
              <a:rPr lang="en-US" b="1" dirty="0"/>
              <a:t>3. components: </a:t>
            </a:r>
            <a:r>
              <a:rPr lang="en-US" dirty="0"/>
              <a:t>The "components" directory contains individual Vue component files. Each component is typically defined in its own file with a ".</a:t>
            </a:r>
            <a:r>
              <a:rPr lang="en-US" dirty="0" err="1"/>
              <a:t>vue</a:t>
            </a:r>
            <a:r>
              <a:rPr lang="en-US" dirty="0"/>
              <a:t>" extension. </a:t>
            </a:r>
          </a:p>
          <a:p>
            <a:pPr marL="0" indent="0">
              <a:lnSpc>
                <a:spcPct val="150000"/>
              </a:lnSpc>
              <a:buNone/>
            </a:pPr>
            <a:r>
              <a:rPr lang="en-US" b="1" dirty="0"/>
              <a:t>4. assets: </a:t>
            </a:r>
            <a:r>
              <a:rPr lang="en-US" dirty="0"/>
              <a:t>The "assets" directory is used to store static assets like images, stylesheets, or other media files that are specific to the Vue application.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8801157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27BF5F-1A79-2732-3329-DE11088C6670}"/>
              </a:ext>
            </a:extLst>
          </p:cNvPr>
          <p:cNvSpPr>
            <a:spLocks noGrp="1"/>
          </p:cNvSpPr>
          <p:nvPr>
            <p:ph idx="1"/>
          </p:nvPr>
        </p:nvSpPr>
        <p:spPr>
          <a:xfrm>
            <a:off x="640080" y="457200"/>
            <a:ext cx="11281410" cy="6115050"/>
          </a:xfrm>
        </p:spPr>
        <p:txBody>
          <a:bodyPr>
            <a:normAutofit/>
          </a:bodyPr>
          <a:lstStyle/>
          <a:p>
            <a:pPr marL="0" indent="0">
              <a:lnSpc>
                <a:spcPct val="150000"/>
              </a:lnSpc>
              <a:buNone/>
            </a:pPr>
            <a:r>
              <a:rPr lang="en-US" b="1" dirty="0"/>
              <a:t>5. router: </a:t>
            </a:r>
            <a:r>
              <a:rPr lang="en-US" dirty="0"/>
              <a:t>If the Vue project uses Vue Router for client-side routing, the "router" directory contains the configuration and setup files for the router. </a:t>
            </a:r>
          </a:p>
          <a:p>
            <a:pPr marL="0" indent="0">
              <a:lnSpc>
                <a:spcPct val="150000"/>
              </a:lnSpc>
              <a:buNone/>
            </a:pPr>
            <a:r>
              <a:rPr lang="en-US" b="1" dirty="0"/>
              <a:t>6. </a:t>
            </a:r>
            <a:r>
              <a:rPr lang="en-US" b="1" dirty="0" err="1"/>
              <a:t>package.json</a:t>
            </a:r>
            <a:r>
              <a:rPr lang="en-US" dirty="0"/>
              <a:t>: </a:t>
            </a:r>
            <a:r>
              <a:rPr lang="en-US" dirty="0" err="1"/>
              <a:t>package.json</a:t>
            </a:r>
            <a:r>
              <a:rPr lang="en-US" dirty="0"/>
              <a:t> is a metadata file that contains information about the project and its dependencies. It lists the project's dependencies, scripts, and other project-specific configurations. 	</a:t>
            </a:r>
          </a:p>
          <a:p>
            <a:pPr marL="0" indent="0">
              <a:lnSpc>
                <a:spcPct val="150000"/>
              </a:lnSpc>
              <a:buNone/>
            </a:pPr>
            <a:r>
              <a:rPr lang="en-US" b="1" dirty="0"/>
              <a:t>7. vue.config.js: </a:t>
            </a:r>
            <a:r>
              <a:rPr lang="en-US" dirty="0"/>
              <a:t>vue.config.js is a configuration file that allows you to customize various aspects of the Vue.js project's build process. It can be used to configure webpack, set up proxy, define environment variables, and more. 	</a:t>
            </a:r>
          </a:p>
          <a:p>
            <a:pPr marL="0" indent="0">
              <a:buNone/>
            </a:pPr>
            <a:endParaRPr lang="en-US" dirty="0"/>
          </a:p>
        </p:txBody>
      </p:sp>
    </p:spTree>
    <p:extLst>
      <p:ext uri="{BB962C8B-B14F-4D97-AF65-F5344CB8AC3E}">
        <p14:creationId xmlns:p14="http://schemas.microsoft.com/office/powerpoint/2010/main" val="2975747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492ADB-A7D7-575D-6294-F761CA35DE08}"/>
              </a:ext>
            </a:extLst>
          </p:cNvPr>
          <p:cNvSpPr>
            <a:spLocks noGrp="1"/>
          </p:cNvSpPr>
          <p:nvPr>
            <p:ph idx="1"/>
          </p:nvPr>
        </p:nvSpPr>
        <p:spPr>
          <a:xfrm>
            <a:off x="560070" y="560070"/>
            <a:ext cx="11064240" cy="5829300"/>
          </a:xfrm>
        </p:spPr>
        <p:txBody>
          <a:bodyPr/>
          <a:lstStyle/>
          <a:p>
            <a:pPr marL="0" indent="0">
              <a:lnSpc>
                <a:spcPct val="150000"/>
              </a:lnSpc>
              <a:buNone/>
            </a:pPr>
            <a:r>
              <a:rPr lang="en-US" b="1" dirty="0"/>
              <a:t>8. .</a:t>
            </a:r>
            <a:r>
              <a:rPr lang="en-US" b="1" dirty="0" err="1"/>
              <a:t>gitignore</a:t>
            </a:r>
            <a:r>
              <a:rPr lang="en-US" dirty="0"/>
              <a:t>: .</a:t>
            </a:r>
            <a:r>
              <a:rPr lang="en-US" dirty="0" err="1"/>
              <a:t>gitignore</a:t>
            </a:r>
            <a:r>
              <a:rPr lang="en-US" dirty="0"/>
              <a:t> is a file that specifies which files and folders should be ignored by the version control system (Git) when committing changes. </a:t>
            </a:r>
            <a:r>
              <a:rPr lang="en-US" b="1" dirty="0"/>
              <a:t>9. babel.config.js: </a:t>
            </a:r>
            <a:r>
              <a:rPr lang="en-US" dirty="0"/>
              <a:t>babel.config.js is a configuration file for Babel, a JavaScript compiler. It allows you to specify presets, plugins, and other Babel configurations to transform JavaScript code. 	</a:t>
            </a:r>
          </a:p>
          <a:p>
            <a:pPr marL="0" indent="0">
              <a:lnSpc>
                <a:spcPct val="150000"/>
              </a:lnSpc>
              <a:buNone/>
            </a:pPr>
            <a:r>
              <a:rPr lang="en-US" b="1" dirty="0"/>
              <a:t>10. </a:t>
            </a:r>
            <a:r>
              <a:rPr lang="en-US" b="1" dirty="0" err="1"/>
              <a:t>jsconfig.json</a:t>
            </a:r>
            <a:r>
              <a:rPr lang="en-US" b="1" dirty="0"/>
              <a:t>: </a:t>
            </a:r>
            <a:r>
              <a:rPr lang="en-US" dirty="0" err="1"/>
              <a:t>jsconfig.json</a:t>
            </a:r>
            <a:r>
              <a:rPr lang="en-US" dirty="0"/>
              <a:t> is a configuration file used for JavaScript projects in Visual Studio Code. It provides IntelliSense and helps with code navigation and suggestions within the editor. 	</a:t>
            </a:r>
          </a:p>
          <a:p>
            <a:pPr marL="0" indent="0">
              <a:buNone/>
            </a:pPr>
            <a:endParaRPr lang="en-US" dirty="0"/>
          </a:p>
        </p:txBody>
      </p:sp>
    </p:spTree>
    <p:extLst>
      <p:ext uri="{BB962C8B-B14F-4D97-AF65-F5344CB8AC3E}">
        <p14:creationId xmlns:p14="http://schemas.microsoft.com/office/powerpoint/2010/main" val="6331544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76E205-0C8D-027B-2A45-56DB53233EF4}"/>
              </a:ext>
            </a:extLst>
          </p:cNvPr>
          <p:cNvSpPr>
            <a:spLocks noGrp="1"/>
          </p:cNvSpPr>
          <p:nvPr>
            <p:ph idx="1"/>
          </p:nvPr>
        </p:nvSpPr>
        <p:spPr>
          <a:xfrm>
            <a:off x="628650" y="662940"/>
            <a:ext cx="10725150" cy="5514023"/>
          </a:xfrm>
        </p:spPr>
        <p:txBody>
          <a:bodyPr/>
          <a:lstStyle/>
          <a:p>
            <a:pPr marL="0" indent="0">
              <a:lnSpc>
                <a:spcPct val="150000"/>
              </a:lnSpc>
              <a:buNone/>
            </a:pPr>
            <a:r>
              <a:rPr lang="en-US" b="1" dirty="0"/>
              <a:t>11. vue.config.js: </a:t>
            </a:r>
            <a:r>
              <a:rPr lang="en-US" dirty="0"/>
              <a:t>vue.config.js is a configuration file that allows you to customize various aspects of the Vue.js project's build process. It can be used to configure webpack, set up a proxy, define environment variables, and more. 	</a:t>
            </a:r>
          </a:p>
          <a:p>
            <a:pPr marL="0" indent="0">
              <a:lnSpc>
                <a:spcPct val="150000"/>
              </a:lnSpc>
              <a:buNone/>
            </a:pPr>
            <a:r>
              <a:rPr lang="en-US" dirty="0"/>
              <a:t>12. README.md: README.md is a Markdown file that typically serves as the project's documentation. It provides an overview of the project, instructions for installation, usage, and other relevant information. 	</a:t>
            </a:r>
          </a:p>
          <a:p>
            <a:pPr marL="0" indent="0">
              <a:lnSpc>
                <a:spcPct val="150000"/>
              </a:lnSpc>
              <a:buNone/>
            </a:pPr>
            <a:endParaRPr lang="en-US" dirty="0"/>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216399012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E50F2-64A0-4314-677C-F2252ECA4689}"/>
              </a:ext>
            </a:extLst>
          </p:cNvPr>
          <p:cNvSpPr>
            <a:spLocks noGrp="1"/>
          </p:cNvSpPr>
          <p:nvPr>
            <p:ph idx="1"/>
          </p:nvPr>
        </p:nvSpPr>
        <p:spPr>
          <a:xfrm>
            <a:off x="742950" y="400050"/>
            <a:ext cx="11212830" cy="6195060"/>
          </a:xfrm>
        </p:spPr>
        <p:txBody>
          <a:bodyPr>
            <a:normAutofit/>
          </a:bodyPr>
          <a:lstStyle/>
          <a:p>
            <a:pPr marL="0" indent="0">
              <a:lnSpc>
                <a:spcPct val="150000"/>
              </a:lnSpc>
              <a:buNone/>
            </a:pPr>
            <a:r>
              <a:rPr lang="en-US" dirty="0"/>
              <a:t>13. </a:t>
            </a:r>
            <a:r>
              <a:rPr lang="en-US" b="1" dirty="0"/>
              <a:t>package-</a:t>
            </a:r>
            <a:r>
              <a:rPr lang="en-US" b="1" dirty="0" err="1"/>
              <a:t>lock.json</a:t>
            </a:r>
            <a:r>
              <a:rPr lang="en-US" b="1" dirty="0"/>
              <a:t>: </a:t>
            </a:r>
            <a:r>
              <a:rPr lang="en-US" dirty="0"/>
              <a:t>package-</a:t>
            </a:r>
            <a:r>
              <a:rPr lang="en-US" dirty="0" err="1"/>
              <a:t>lock.json</a:t>
            </a:r>
            <a:r>
              <a:rPr lang="en-US" dirty="0"/>
              <a:t> is a file generated by </a:t>
            </a:r>
            <a:r>
              <a:rPr lang="en-US" dirty="0" err="1"/>
              <a:t>npm</a:t>
            </a:r>
            <a:r>
              <a:rPr lang="en-US" dirty="0"/>
              <a:t> when installing or updating dependencies. It locks the specific versions of the installed packages to ensure consistent installations across different environments. 	</a:t>
            </a:r>
          </a:p>
          <a:p>
            <a:pPr marL="0" indent="0">
              <a:lnSpc>
                <a:spcPct val="150000"/>
              </a:lnSpc>
              <a:buNone/>
            </a:pPr>
            <a:r>
              <a:rPr lang="en-US" dirty="0"/>
              <a:t>	</a:t>
            </a:r>
          </a:p>
          <a:p>
            <a:pPr marL="0" indent="0">
              <a:lnSpc>
                <a:spcPct val="150000"/>
              </a:lnSpc>
              <a:buNone/>
            </a:pPr>
            <a:r>
              <a:rPr lang="en-US" dirty="0"/>
              <a:t>	</a:t>
            </a:r>
          </a:p>
          <a:p>
            <a:pPr marL="0" indent="0">
              <a:lnSpc>
                <a:spcPct val="150000"/>
              </a:lnSpc>
              <a:buNone/>
            </a:pPr>
            <a:endParaRPr lang="en-US" b="1" dirty="0"/>
          </a:p>
          <a:p>
            <a:pPr marL="0" indent="0">
              <a:buNone/>
            </a:pPr>
            <a:endParaRPr lang="en-US" dirty="0"/>
          </a:p>
        </p:txBody>
      </p:sp>
    </p:spTree>
    <p:extLst>
      <p:ext uri="{BB962C8B-B14F-4D97-AF65-F5344CB8AC3E}">
        <p14:creationId xmlns:p14="http://schemas.microsoft.com/office/powerpoint/2010/main" val="5696302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38C74E-8551-B891-286B-D51EF453329E}"/>
              </a:ext>
            </a:extLst>
          </p:cNvPr>
          <p:cNvSpPr>
            <a:spLocks noGrp="1"/>
          </p:cNvSpPr>
          <p:nvPr>
            <p:ph idx="1"/>
          </p:nvPr>
        </p:nvSpPr>
        <p:spPr>
          <a:xfrm>
            <a:off x="662940" y="560070"/>
            <a:ext cx="11109960" cy="5875020"/>
          </a:xfrm>
        </p:spPr>
        <p:txBody>
          <a:bodyPr/>
          <a:lstStyle/>
          <a:p>
            <a:pPr marL="0" indent="0">
              <a:lnSpc>
                <a:spcPct val="150000"/>
              </a:lnSpc>
              <a:buNone/>
            </a:pPr>
            <a:r>
              <a:rPr lang="en-US" b="1" dirty="0"/>
              <a:t>1.3.2.: Navigate through the Vue project folder &amp; files </a:t>
            </a:r>
          </a:p>
          <a:p>
            <a:pPr marL="0" indent="0">
              <a:lnSpc>
                <a:spcPct val="160000"/>
              </a:lnSpc>
              <a:buNone/>
            </a:pPr>
            <a:r>
              <a:rPr lang="en-US" dirty="0"/>
              <a:t>Here are the steps to navigate through a created Vue project folder: </a:t>
            </a:r>
          </a:p>
          <a:p>
            <a:pPr marL="0" indent="0">
              <a:lnSpc>
                <a:spcPct val="160000"/>
              </a:lnSpc>
              <a:buNone/>
            </a:pPr>
            <a:r>
              <a:rPr lang="en-US" b="1" dirty="0"/>
              <a:t>1. Open Command Line Interface (CLI): </a:t>
            </a:r>
          </a:p>
          <a:p>
            <a:pPr marL="0" indent="0">
              <a:lnSpc>
                <a:spcPct val="160000"/>
              </a:lnSpc>
              <a:buNone/>
            </a:pPr>
            <a:r>
              <a:rPr lang="en-US" dirty="0"/>
              <a:t>Open your preferred command line interface (CLI) application, such as Command Prompt, Terminal, or PowerShell, on your computer.</a:t>
            </a:r>
          </a:p>
        </p:txBody>
      </p:sp>
    </p:spTree>
    <p:extLst>
      <p:ext uri="{BB962C8B-B14F-4D97-AF65-F5344CB8AC3E}">
        <p14:creationId xmlns:p14="http://schemas.microsoft.com/office/powerpoint/2010/main" val="35652840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946D2-CF88-E7D9-C8FC-42A90CCDE764}"/>
              </a:ext>
            </a:extLst>
          </p:cNvPr>
          <p:cNvSpPr>
            <a:spLocks noGrp="1"/>
          </p:cNvSpPr>
          <p:nvPr>
            <p:ph idx="1"/>
          </p:nvPr>
        </p:nvSpPr>
        <p:spPr>
          <a:xfrm>
            <a:off x="697230" y="194310"/>
            <a:ext cx="11247120" cy="6480810"/>
          </a:xfrm>
        </p:spPr>
        <p:txBody>
          <a:bodyPr>
            <a:normAutofit lnSpcReduction="10000"/>
          </a:bodyPr>
          <a:lstStyle/>
          <a:p>
            <a:pPr marL="0" indent="0">
              <a:lnSpc>
                <a:spcPct val="150000"/>
              </a:lnSpc>
              <a:buNone/>
            </a:pPr>
            <a:r>
              <a:rPr lang="en-US" b="1" dirty="0"/>
              <a:t>2. Change Directory to Your Vue Project: </a:t>
            </a:r>
          </a:p>
          <a:p>
            <a:pPr marL="0" indent="0">
              <a:lnSpc>
                <a:spcPct val="150000"/>
              </a:lnSpc>
              <a:buNone/>
            </a:pPr>
            <a:r>
              <a:rPr lang="en-US" dirty="0"/>
              <a:t>Use the </a:t>
            </a:r>
            <a:r>
              <a:rPr lang="en-US" b="1" dirty="0"/>
              <a:t>`cd` </a:t>
            </a:r>
            <a:r>
              <a:rPr lang="en-US" dirty="0"/>
              <a:t>command to change the directory to your Vue project folder. For</a:t>
            </a:r>
            <a:r>
              <a:rPr lang="en-US" b="1" dirty="0"/>
              <a:t> example</a:t>
            </a:r>
            <a:r>
              <a:rPr lang="en-US" dirty="0"/>
              <a:t>, if your project is named "my-</a:t>
            </a:r>
            <a:r>
              <a:rPr lang="en-US" dirty="0" err="1"/>
              <a:t>vue</a:t>
            </a:r>
            <a:r>
              <a:rPr lang="en-US" dirty="0"/>
              <a:t>-project": </a:t>
            </a:r>
          </a:p>
          <a:p>
            <a:pPr marL="0" indent="0">
              <a:lnSpc>
                <a:spcPct val="150000"/>
              </a:lnSpc>
              <a:buNone/>
            </a:pPr>
            <a:r>
              <a:rPr lang="en-US" dirty="0"/>
              <a:t>cd path/to/your/</a:t>
            </a:r>
            <a:r>
              <a:rPr lang="en-US" dirty="0" err="1"/>
              <a:t>vue</a:t>
            </a:r>
            <a:r>
              <a:rPr lang="en-US" dirty="0"/>
              <a:t>/project/my-</a:t>
            </a:r>
            <a:r>
              <a:rPr lang="en-US" dirty="0" err="1"/>
              <a:t>vue</a:t>
            </a:r>
            <a:r>
              <a:rPr lang="en-US" dirty="0"/>
              <a:t>-project </a:t>
            </a:r>
          </a:p>
          <a:p>
            <a:pPr marL="0" indent="0">
              <a:lnSpc>
                <a:spcPct val="150000"/>
              </a:lnSpc>
              <a:buNone/>
            </a:pPr>
            <a:r>
              <a:rPr lang="en-US" b="1" dirty="0"/>
              <a:t>3. List Files and Folders: </a:t>
            </a:r>
          </a:p>
          <a:p>
            <a:pPr marL="0" indent="0">
              <a:lnSpc>
                <a:spcPct val="150000"/>
              </a:lnSpc>
              <a:buNone/>
            </a:pPr>
            <a:r>
              <a:rPr lang="en-US" dirty="0"/>
              <a:t>To view the contents of the current directory, you can use the `</a:t>
            </a:r>
            <a:r>
              <a:rPr lang="en-US" dirty="0" err="1"/>
              <a:t>ls`</a:t>
            </a:r>
            <a:r>
              <a:rPr lang="en-US" dirty="0"/>
              <a:t> command on Unix-based systems or the `</a:t>
            </a:r>
            <a:r>
              <a:rPr lang="en-US" dirty="0" err="1"/>
              <a:t>dir</a:t>
            </a:r>
            <a:r>
              <a:rPr lang="en-US" dirty="0"/>
              <a:t>` command on Windows: </a:t>
            </a:r>
          </a:p>
          <a:p>
            <a:pPr marL="0" indent="0">
              <a:lnSpc>
                <a:spcPct val="150000"/>
              </a:lnSpc>
              <a:buNone/>
            </a:pPr>
            <a:r>
              <a:rPr lang="en-US" dirty="0"/>
              <a:t>ls // Unix-based systems </a:t>
            </a:r>
          </a:p>
          <a:p>
            <a:pPr marL="0" indent="0">
              <a:lnSpc>
                <a:spcPct val="150000"/>
              </a:lnSpc>
              <a:buNone/>
            </a:pPr>
            <a:r>
              <a:rPr lang="en-US" dirty="0" err="1"/>
              <a:t>dir</a:t>
            </a:r>
            <a:r>
              <a:rPr lang="en-US" dirty="0"/>
              <a:t> // Windows 	</a:t>
            </a:r>
          </a:p>
          <a:p>
            <a:pPr marL="0" indent="0">
              <a:buNone/>
            </a:pPr>
            <a:endParaRPr lang="en-US" dirty="0"/>
          </a:p>
        </p:txBody>
      </p:sp>
    </p:spTree>
    <p:extLst>
      <p:ext uri="{BB962C8B-B14F-4D97-AF65-F5344CB8AC3E}">
        <p14:creationId xmlns:p14="http://schemas.microsoft.com/office/powerpoint/2010/main" val="40133557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1269D1-1A88-37A5-4F5C-B2B76EBB77AB}"/>
              </a:ext>
            </a:extLst>
          </p:cNvPr>
          <p:cNvSpPr>
            <a:spLocks noGrp="1"/>
          </p:cNvSpPr>
          <p:nvPr>
            <p:ph idx="1"/>
          </p:nvPr>
        </p:nvSpPr>
        <p:spPr>
          <a:xfrm>
            <a:off x="754380" y="474345"/>
            <a:ext cx="11064240" cy="5909310"/>
          </a:xfrm>
        </p:spPr>
        <p:txBody>
          <a:bodyPr/>
          <a:lstStyle/>
          <a:p>
            <a:pPr marL="0" indent="0">
              <a:lnSpc>
                <a:spcPct val="150000"/>
              </a:lnSpc>
              <a:buNone/>
            </a:pPr>
            <a:r>
              <a:rPr lang="en-US" b="1" dirty="0"/>
              <a:t>4. Navigate to Specific Folders: </a:t>
            </a:r>
          </a:p>
          <a:p>
            <a:pPr marL="0" indent="0">
              <a:lnSpc>
                <a:spcPct val="150000"/>
              </a:lnSpc>
              <a:buNone/>
            </a:pPr>
            <a:r>
              <a:rPr lang="en-US" dirty="0"/>
              <a:t>Use the `cd` command to enter specific folders within the project directory. For example, to enter the `</a:t>
            </a:r>
            <a:r>
              <a:rPr lang="en-US" dirty="0" err="1"/>
              <a:t>src</a:t>
            </a:r>
            <a:r>
              <a:rPr lang="en-US" dirty="0"/>
              <a:t>` folder:  </a:t>
            </a:r>
            <a:r>
              <a:rPr lang="en-US" b="1" dirty="0"/>
              <a:t>cd </a:t>
            </a:r>
            <a:r>
              <a:rPr lang="en-US" b="1" dirty="0" err="1"/>
              <a:t>src</a:t>
            </a:r>
            <a:r>
              <a:rPr lang="en-US" b="1" dirty="0"/>
              <a:t> </a:t>
            </a:r>
          </a:p>
          <a:p>
            <a:pPr marL="0" indent="0">
              <a:lnSpc>
                <a:spcPct val="150000"/>
              </a:lnSpc>
              <a:buNone/>
            </a:pPr>
            <a:r>
              <a:rPr lang="en-US" b="1" dirty="0"/>
              <a:t>5. View Files and Content: </a:t>
            </a:r>
            <a:r>
              <a:rPr lang="en-US" dirty="0"/>
              <a:t>	</a:t>
            </a:r>
          </a:p>
          <a:p>
            <a:pPr marL="0" indent="0">
              <a:lnSpc>
                <a:spcPct val="150000"/>
              </a:lnSpc>
              <a:buNone/>
            </a:pPr>
            <a:r>
              <a:rPr lang="en-US" dirty="0"/>
              <a:t>Use text editors or CLI tools to view the content of files within the project. For example, to view the contents of the `</a:t>
            </a:r>
            <a:r>
              <a:rPr lang="en-US" b="1" dirty="0" err="1"/>
              <a:t>App.vue</a:t>
            </a:r>
            <a:r>
              <a:rPr lang="en-US" dirty="0"/>
              <a:t>` file: 	</a:t>
            </a:r>
          </a:p>
          <a:p>
            <a:pPr marL="0" indent="0">
              <a:lnSpc>
                <a:spcPct val="150000"/>
              </a:lnSpc>
              <a:buNone/>
            </a:pPr>
            <a:r>
              <a:rPr lang="en-US" b="1" dirty="0"/>
              <a:t>cat </a:t>
            </a:r>
            <a:r>
              <a:rPr lang="en-US" b="1" dirty="0" err="1"/>
              <a:t>App.vue</a:t>
            </a:r>
            <a:r>
              <a:rPr lang="en-US" b="1" dirty="0"/>
              <a:t> </a:t>
            </a:r>
            <a:r>
              <a:rPr lang="en-US" dirty="0"/>
              <a:t>// Displays the content of the file (replace `cat` with the appropriate command based on your CLI)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23064267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D1DF0E-6C0D-9140-8086-A345E5A8601B}"/>
              </a:ext>
            </a:extLst>
          </p:cNvPr>
          <p:cNvSpPr>
            <a:spLocks noGrp="1"/>
          </p:cNvSpPr>
          <p:nvPr>
            <p:ph idx="1"/>
          </p:nvPr>
        </p:nvSpPr>
        <p:spPr>
          <a:xfrm>
            <a:off x="800100" y="640080"/>
            <a:ext cx="10984230" cy="5772150"/>
          </a:xfrm>
        </p:spPr>
        <p:txBody>
          <a:bodyPr/>
          <a:lstStyle/>
          <a:p>
            <a:pPr marL="0" indent="0">
              <a:lnSpc>
                <a:spcPct val="150000"/>
              </a:lnSpc>
              <a:buNone/>
            </a:pPr>
            <a:r>
              <a:rPr lang="en-US" dirty="0"/>
              <a:t>6. </a:t>
            </a:r>
            <a:r>
              <a:rPr lang="en-US" b="1" dirty="0"/>
              <a:t>Navigate Back to Previous Directory: </a:t>
            </a:r>
          </a:p>
          <a:p>
            <a:pPr marL="0" indent="0">
              <a:lnSpc>
                <a:spcPct val="150000"/>
              </a:lnSpc>
              <a:buNone/>
            </a:pPr>
            <a:r>
              <a:rPr lang="en-US" dirty="0"/>
              <a:t>To navigate back to the previous directory, you can use the `cd ..` command:  </a:t>
            </a:r>
            <a:r>
              <a:rPr lang="en-US" b="1" dirty="0"/>
              <a:t>cd .. </a:t>
            </a:r>
          </a:p>
          <a:p>
            <a:pPr marL="0" indent="0">
              <a:lnSpc>
                <a:spcPct val="150000"/>
              </a:lnSpc>
              <a:buNone/>
            </a:pPr>
            <a:r>
              <a:rPr lang="en-US" b="1" dirty="0"/>
              <a:t>7. Run Development Server: </a:t>
            </a:r>
          </a:p>
          <a:p>
            <a:pPr marL="0" indent="0">
              <a:lnSpc>
                <a:spcPct val="150000"/>
              </a:lnSpc>
              <a:buNone/>
            </a:pPr>
            <a:r>
              <a:rPr lang="en-US" dirty="0"/>
              <a:t> If you want to run the development server to preview your Vue project, you can use the following command:   </a:t>
            </a:r>
            <a:r>
              <a:rPr lang="en-US" b="1" dirty="0" err="1"/>
              <a:t>npm</a:t>
            </a:r>
            <a:r>
              <a:rPr lang="en-US" b="1" dirty="0"/>
              <a:t> run serve </a:t>
            </a:r>
            <a:r>
              <a:rPr lang="en-US" dirty="0"/>
              <a:t>	</a:t>
            </a:r>
          </a:p>
          <a:p>
            <a:pPr marL="0" indent="0">
              <a:buNone/>
            </a:pPr>
            <a:endParaRPr lang="en-US" dirty="0"/>
          </a:p>
        </p:txBody>
      </p:sp>
    </p:spTree>
    <p:extLst>
      <p:ext uri="{BB962C8B-B14F-4D97-AF65-F5344CB8AC3E}">
        <p14:creationId xmlns:p14="http://schemas.microsoft.com/office/powerpoint/2010/main" val="38173420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01FFAA-472B-5464-886E-E6326C8DD303}"/>
              </a:ext>
            </a:extLst>
          </p:cNvPr>
          <p:cNvSpPr>
            <a:spLocks noGrp="1"/>
          </p:cNvSpPr>
          <p:nvPr>
            <p:ph idx="1"/>
          </p:nvPr>
        </p:nvSpPr>
        <p:spPr>
          <a:xfrm>
            <a:off x="601027" y="316864"/>
            <a:ext cx="11034713" cy="6129656"/>
          </a:xfrm>
        </p:spPr>
        <p:txBody>
          <a:bodyPr>
            <a:normAutofit fontScale="92500" lnSpcReduction="20000"/>
          </a:bodyPr>
          <a:lstStyle/>
          <a:p>
            <a:pPr marL="0" indent="0">
              <a:lnSpc>
                <a:spcPct val="150000"/>
              </a:lnSpc>
              <a:buNone/>
            </a:pPr>
            <a:r>
              <a:rPr lang="en-US" sz="3000" b="1" dirty="0"/>
              <a:t>8.  Access the Vue Application: </a:t>
            </a:r>
          </a:p>
          <a:p>
            <a:pPr marL="0" indent="0">
              <a:lnSpc>
                <a:spcPct val="150000"/>
              </a:lnSpc>
              <a:buNone/>
            </a:pPr>
            <a:r>
              <a:rPr lang="en-US" sz="3000" dirty="0"/>
              <a:t> Open a web browser and navigate to the URL provided by the Vue CLI after starting the development server (usually `http://localhost:8080`) to access and interact with your Vue application. </a:t>
            </a:r>
          </a:p>
          <a:p>
            <a:pPr marL="0" indent="0">
              <a:lnSpc>
                <a:spcPct val="150000"/>
              </a:lnSpc>
              <a:buNone/>
            </a:pPr>
            <a:r>
              <a:rPr lang="en-US" sz="3000" dirty="0"/>
              <a:t>To create a </a:t>
            </a:r>
            <a:r>
              <a:rPr lang="en-US" sz="3000" b="1" dirty="0"/>
              <a:t>project in Vue.js</a:t>
            </a:r>
            <a:r>
              <a:rPr lang="en-US" sz="3000" dirty="0"/>
              <a:t>, you'll need to follow a few steps. Here's a guide to help you get started: </a:t>
            </a:r>
          </a:p>
          <a:p>
            <a:pPr marL="0" indent="0">
              <a:lnSpc>
                <a:spcPct val="150000"/>
              </a:lnSpc>
              <a:buNone/>
            </a:pPr>
            <a:r>
              <a:rPr lang="en-US" sz="3000" b="1" dirty="0"/>
              <a:t>Step 1: </a:t>
            </a:r>
            <a:r>
              <a:rPr lang="en-US" sz="3000" dirty="0"/>
              <a:t>Install Node.js. Before setting up a Vue.js project, make sure you have Node.js installed on your computer. Node.js is required to run the build tools and development server used by Vue.js.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8573740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E4B44C-F43F-CE0B-B48D-42CE48B92DD9}"/>
              </a:ext>
            </a:extLst>
          </p:cNvPr>
          <p:cNvSpPr>
            <a:spLocks noGrp="1"/>
          </p:cNvSpPr>
          <p:nvPr>
            <p:ph idx="1"/>
          </p:nvPr>
        </p:nvSpPr>
        <p:spPr>
          <a:xfrm>
            <a:off x="822960" y="582930"/>
            <a:ext cx="10530840" cy="5594033"/>
          </a:xfrm>
        </p:spPr>
        <p:txBody>
          <a:bodyPr/>
          <a:lstStyle/>
          <a:p>
            <a:pPr marL="0" indent="0">
              <a:lnSpc>
                <a:spcPct val="150000"/>
              </a:lnSpc>
              <a:buNone/>
            </a:pPr>
            <a:r>
              <a:rPr lang="en-US" b="1" dirty="0"/>
              <a:t>Step 2: </a:t>
            </a:r>
            <a:r>
              <a:rPr lang="en-US" dirty="0"/>
              <a:t>Install Vue CLI Vue CLI is a command-line tool specifically designed for scaffolding Vue.js projects. It provides a streamlined way to set up a project with a pre-configured build system and various development tools. </a:t>
            </a:r>
          </a:p>
          <a:p>
            <a:pPr marL="0" indent="0">
              <a:lnSpc>
                <a:spcPct val="150000"/>
              </a:lnSpc>
              <a:buNone/>
            </a:pPr>
            <a:r>
              <a:rPr lang="en-US" dirty="0"/>
              <a:t>To install Vue CLI, open your command-line interface (CLI) and run the following command: 	</a:t>
            </a:r>
          </a:p>
          <a:p>
            <a:pPr marL="0" indent="0">
              <a:lnSpc>
                <a:spcPct val="150000"/>
              </a:lnSpc>
              <a:buNone/>
            </a:pPr>
            <a:r>
              <a:rPr lang="en-US" dirty="0"/>
              <a:t>	</a:t>
            </a:r>
          </a:p>
          <a:p>
            <a:pPr marL="0" indent="0">
              <a:buNone/>
            </a:pPr>
            <a:endParaRPr lang="en-US" b="1" dirty="0"/>
          </a:p>
        </p:txBody>
      </p:sp>
    </p:spTree>
    <p:extLst>
      <p:ext uri="{BB962C8B-B14F-4D97-AF65-F5344CB8AC3E}">
        <p14:creationId xmlns:p14="http://schemas.microsoft.com/office/powerpoint/2010/main" val="34822783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C946AC-F2AD-0BB3-349E-712FDB1A8085}"/>
              </a:ext>
            </a:extLst>
          </p:cNvPr>
          <p:cNvSpPr>
            <a:spLocks noGrp="1"/>
          </p:cNvSpPr>
          <p:nvPr>
            <p:ph idx="1"/>
          </p:nvPr>
        </p:nvSpPr>
        <p:spPr>
          <a:xfrm>
            <a:off x="697230" y="525780"/>
            <a:ext cx="10984230" cy="5795010"/>
          </a:xfrm>
        </p:spPr>
        <p:txBody>
          <a:bodyPr/>
          <a:lstStyle/>
          <a:p>
            <a:pPr marL="0" indent="0">
              <a:lnSpc>
                <a:spcPct val="150000"/>
              </a:lnSpc>
              <a:buNone/>
            </a:pPr>
            <a:r>
              <a:rPr lang="en-US" b="1" dirty="0" err="1"/>
              <a:t>npm</a:t>
            </a:r>
            <a:r>
              <a:rPr lang="en-US" b="1" dirty="0"/>
              <a:t> install -g @vue/cli </a:t>
            </a:r>
            <a:r>
              <a:rPr lang="en-US" dirty="0"/>
              <a:t>	</a:t>
            </a:r>
          </a:p>
          <a:p>
            <a:pPr marL="0" indent="0">
              <a:lnSpc>
                <a:spcPct val="150000"/>
              </a:lnSpc>
              <a:buNone/>
            </a:pPr>
            <a:r>
              <a:rPr lang="en-US" b="1" dirty="0"/>
              <a:t>Step 3: </a:t>
            </a:r>
            <a:r>
              <a:rPr lang="en-US" dirty="0"/>
              <a:t>Create a New Vue Project Once Vue CLI is installed, you can create a new Vue project by running the following command: </a:t>
            </a:r>
          </a:p>
          <a:p>
            <a:pPr marL="0" indent="0">
              <a:lnSpc>
                <a:spcPct val="150000"/>
              </a:lnSpc>
              <a:buNone/>
            </a:pPr>
            <a:r>
              <a:rPr lang="en-US" b="1" dirty="0" err="1"/>
              <a:t>vue</a:t>
            </a:r>
            <a:r>
              <a:rPr lang="en-US" b="1" dirty="0"/>
              <a:t> create my-project 	</a:t>
            </a:r>
          </a:p>
          <a:p>
            <a:pPr marL="0" indent="0">
              <a:lnSpc>
                <a:spcPct val="150000"/>
              </a:lnSpc>
              <a:buNone/>
            </a:pPr>
            <a:r>
              <a:rPr lang="en-US" dirty="0"/>
              <a:t>Replace "my-project" with the desired name of your project. This command will prompt you to choose a preset for your project configuration. 	</a:t>
            </a:r>
          </a:p>
          <a:p>
            <a:pPr marL="0" indent="0">
              <a:buNone/>
            </a:pPr>
            <a:endParaRPr lang="en-US" dirty="0"/>
          </a:p>
        </p:txBody>
      </p:sp>
    </p:spTree>
    <p:extLst>
      <p:ext uri="{BB962C8B-B14F-4D97-AF65-F5344CB8AC3E}">
        <p14:creationId xmlns:p14="http://schemas.microsoft.com/office/powerpoint/2010/main" val="32339101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F2E91-A46F-A214-44A1-46752AE7F152}"/>
              </a:ext>
            </a:extLst>
          </p:cNvPr>
          <p:cNvSpPr>
            <a:spLocks noGrp="1"/>
          </p:cNvSpPr>
          <p:nvPr>
            <p:ph idx="1"/>
          </p:nvPr>
        </p:nvSpPr>
        <p:spPr>
          <a:xfrm>
            <a:off x="754380" y="640080"/>
            <a:ext cx="11018520" cy="5817870"/>
          </a:xfrm>
        </p:spPr>
        <p:txBody>
          <a:bodyPr/>
          <a:lstStyle/>
          <a:p>
            <a:pPr marL="0" indent="0">
              <a:lnSpc>
                <a:spcPct val="150000"/>
              </a:lnSpc>
              <a:buNone/>
            </a:pPr>
            <a:r>
              <a:rPr lang="en-US" b="1" dirty="0"/>
              <a:t>Step 4: </a:t>
            </a:r>
            <a:r>
              <a:rPr lang="en-US" dirty="0"/>
              <a:t>Navigate to the Project Directory. After creating the Vue project, navigate to its directory using the following command: </a:t>
            </a:r>
          </a:p>
          <a:p>
            <a:pPr marL="0" indent="0">
              <a:lnSpc>
                <a:spcPct val="150000"/>
              </a:lnSpc>
              <a:buNone/>
            </a:pPr>
            <a:r>
              <a:rPr lang="en-US" b="1" dirty="0"/>
              <a:t>cd my-project</a:t>
            </a:r>
          </a:p>
          <a:p>
            <a:pPr marL="0" indent="0">
              <a:lnSpc>
                <a:spcPct val="150000"/>
              </a:lnSpc>
              <a:buNone/>
            </a:pPr>
            <a:r>
              <a:rPr lang="en-US" b="1" dirty="0"/>
              <a:t>Step 5: </a:t>
            </a:r>
            <a:r>
              <a:rPr lang="en-US" dirty="0"/>
              <a:t>Start the Development Server. Once inside the project directory, you can start the development server using the following command: </a:t>
            </a:r>
          </a:p>
          <a:p>
            <a:pPr marL="0" indent="0">
              <a:lnSpc>
                <a:spcPct val="150000"/>
              </a:lnSpc>
              <a:buNone/>
            </a:pPr>
            <a:r>
              <a:rPr lang="en-US" b="1" dirty="0" err="1"/>
              <a:t>npm</a:t>
            </a:r>
            <a:r>
              <a:rPr lang="en-US" b="1" dirty="0"/>
              <a:t> run serve </a:t>
            </a:r>
            <a:r>
              <a:rPr lang="en-US" dirty="0"/>
              <a:t>	</a:t>
            </a:r>
          </a:p>
          <a:p>
            <a:pPr marL="0" indent="0">
              <a:lnSpc>
                <a:spcPct val="150000"/>
              </a:lnSpc>
              <a:buNone/>
            </a:pPr>
            <a:r>
              <a:rPr lang="en-US" b="1" dirty="0"/>
              <a:t> 	</a:t>
            </a:r>
          </a:p>
          <a:p>
            <a:pPr marL="0" indent="0">
              <a:buNone/>
            </a:pPr>
            <a:endParaRPr lang="en-US" dirty="0"/>
          </a:p>
        </p:txBody>
      </p:sp>
    </p:spTree>
    <p:extLst>
      <p:ext uri="{BB962C8B-B14F-4D97-AF65-F5344CB8AC3E}">
        <p14:creationId xmlns:p14="http://schemas.microsoft.com/office/powerpoint/2010/main" val="9748521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FB39C3-E68F-0466-7276-716CAEDE717B}"/>
              </a:ext>
            </a:extLst>
          </p:cNvPr>
          <p:cNvSpPr>
            <a:spLocks noGrp="1"/>
          </p:cNvSpPr>
          <p:nvPr>
            <p:ph idx="1"/>
          </p:nvPr>
        </p:nvSpPr>
        <p:spPr>
          <a:xfrm>
            <a:off x="674370" y="537210"/>
            <a:ext cx="10679430" cy="5639753"/>
          </a:xfrm>
        </p:spPr>
        <p:txBody>
          <a:bodyPr/>
          <a:lstStyle/>
          <a:p>
            <a:pPr marL="0" indent="0">
              <a:lnSpc>
                <a:spcPct val="150000"/>
              </a:lnSpc>
              <a:buNone/>
            </a:pPr>
            <a:r>
              <a:rPr lang="en-US" b="1" dirty="0"/>
              <a:t>Step 6: </a:t>
            </a:r>
            <a:r>
              <a:rPr lang="en-US" dirty="0"/>
              <a:t>Explore and Modify the Project At this point, you have a basic Vue.js project set up. You can start exploring the project structure and making modifications. The main project files are located in the "</a:t>
            </a:r>
            <a:r>
              <a:rPr lang="en-US" dirty="0" err="1"/>
              <a:t>src</a:t>
            </a:r>
            <a:r>
              <a:rPr lang="en-US" dirty="0"/>
              <a:t>" directory, including the entry point file "main.js" and the root component file "</a:t>
            </a:r>
            <a:r>
              <a:rPr lang="en-US" dirty="0" err="1"/>
              <a:t>App.vue</a:t>
            </a:r>
            <a:r>
              <a:rPr lang="en-US" dirty="0"/>
              <a:t>." 	</a:t>
            </a:r>
          </a:p>
          <a:p>
            <a:pPr marL="0" indent="0">
              <a:buNone/>
            </a:pPr>
            <a:endParaRPr lang="en-US" dirty="0"/>
          </a:p>
        </p:txBody>
      </p:sp>
    </p:spTree>
    <p:extLst>
      <p:ext uri="{BB962C8B-B14F-4D97-AF65-F5344CB8AC3E}">
        <p14:creationId xmlns:p14="http://schemas.microsoft.com/office/powerpoint/2010/main" val="6984133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3C7D58-06B8-49F0-7A54-D7E42A2A58B9}"/>
              </a:ext>
            </a:extLst>
          </p:cNvPr>
          <p:cNvSpPr>
            <a:spLocks noGrp="1"/>
          </p:cNvSpPr>
          <p:nvPr>
            <p:ph idx="1"/>
          </p:nvPr>
        </p:nvSpPr>
        <p:spPr>
          <a:xfrm>
            <a:off x="788670" y="525780"/>
            <a:ext cx="10915650" cy="5795010"/>
          </a:xfrm>
        </p:spPr>
        <p:txBody>
          <a:bodyPr>
            <a:normAutofit fontScale="92500" lnSpcReduction="10000"/>
          </a:bodyPr>
          <a:lstStyle/>
          <a:p>
            <a:pPr marL="0" indent="0">
              <a:lnSpc>
                <a:spcPct val="150000"/>
              </a:lnSpc>
              <a:buNone/>
            </a:pPr>
            <a:r>
              <a:rPr lang="en-US" b="1" dirty="0"/>
              <a:t>To open a Vue.js project in Visual Studio Code (VS Code) you can follow these steps: </a:t>
            </a:r>
            <a:endParaRPr lang="en-US" dirty="0"/>
          </a:p>
          <a:p>
            <a:pPr marL="0" indent="0">
              <a:lnSpc>
                <a:spcPct val="150000"/>
              </a:lnSpc>
              <a:buNone/>
            </a:pPr>
            <a:r>
              <a:rPr lang="en-US" b="1" dirty="0"/>
              <a:t>Step 1: </a:t>
            </a:r>
            <a:r>
              <a:rPr lang="en-US" dirty="0"/>
              <a:t>Install Visual Studio Code. If you don't have Visual Studio Code installed on your computer, you can download it from the official website (https://code.visualstudio.com/) and follow the installation instructions for your operating system. </a:t>
            </a:r>
          </a:p>
          <a:p>
            <a:pPr marL="0" indent="0">
              <a:lnSpc>
                <a:spcPct val="150000"/>
              </a:lnSpc>
              <a:buNone/>
            </a:pPr>
            <a:r>
              <a:rPr lang="en-US" b="1" dirty="0"/>
              <a:t>Step 2: </a:t>
            </a:r>
            <a:r>
              <a:rPr lang="en-US" dirty="0"/>
              <a:t>Open Visual Studio Code. Launch Visual Studio Code by clicking on its icon or searching for it in your application launcher. 	</a:t>
            </a:r>
          </a:p>
          <a:p>
            <a:pPr marL="0" indent="0">
              <a:lnSpc>
                <a:spcPct val="150000"/>
              </a:lnSpc>
              <a:buNone/>
            </a:pPr>
            <a:r>
              <a:rPr lang="en-US" dirty="0"/>
              <a:t>	</a:t>
            </a:r>
          </a:p>
          <a:p>
            <a:pPr marL="0" indent="0">
              <a:buNone/>
            </a:pPr>
            <a:endParaRPr lang="en-US" dirty="0"/>
          </a:p>
        </p:txBody>
      </p:sp>
    </p:spTree>
    <p:extLst>
      <p:ext uri="{BB962C8B-B14F-4D97-AF65-F5344CB8AC3E}">
        <p14:creationId xmlns:p14="http://schemas.microsoft.com/office/powerpoint/2010/main" val="39118505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B538A7-0239-5981-8504-41ABE0C12BFF}"/>
              </a:ext>
            </a:extLst>
          </p:cNvPr>
          <p:cNvSpPr>
            <a:spLocks noGrp="1"/>
          </p:cNvSpPr>
          <p:nvPr>
            <p:ph idx="1"/>
          </p:nvPr>
        </p:nvSpPr>
        <p:spPr>
          <a:xfrm>
            <a:off x="708660" y="537210"/>
            <a:ext cx="10645140" cy="5639753"/>
          </a:xfrm>
        </p:spPr>
        <p:txBody>
          <a:bodyPr/>
          <a:lstStyle/>
          <a:p>
            <a:pPr marL="0" indent="0">
              <a:lnSpc>
                <a:spcPct val="150000"/>
              </a:lnSpc>
              <a:buNone/>
            </a:pPr>
            <a:r>
              <a:rPr lang="en-US" b="1" dirty="0"/>
              <a:t>Step 3: </a:t>
            </a:r>
            <a:r>
              <a:rPr lang="en-US" dirty="0"/>
              <a:t>Open the Project Folder in VS Code. Go to the "File" menu and select "Open Folder“.</a:t>
            </a:r>
          </a:p>
          <a:p>
            <a:pPr marL="0" indent="0">
              <a:lnSpc>
                <a:spcPct val="150000"/>
              </a:lnSpc>
              <a:buNone/>
            </a:pPr>
            <a:r>
              <a:rPr lang="en-US" b="1" dirty="0"/>
              <a:t>Step 4: </a:t>
            </a:r>
            <a:r>
              <a:rPr lang="en-US" dirty="0"/>
              <a:t>Explore the Project Structure Once the project is open, you'll see the file and folder structure in the Explorer sidebar on the left-hand side of the VS Code window. The key files and folders in a Vue.js project are typically: 	</a:t>
            </a:r>
          </a:p>
          <a:p>
            <a:pPr marL="0" indent="0">
              <a:lnSpc>
                <a:spcPct val="150000"/>
              </a:lnSpc>
              <a:buNone/>
            </a:pPr>
            <a:endParaRPr lang="en-US" dirty="0"/>
          </a:p>
        </p:txBody>
      </p:sp>
    </p:spTree>
    <p:extLst>
      <p:ext uri="{BB962C8B-B14F-4D97-AF65-F5344CB8AC3E}">
        <p14:creationId xmlns:p14="http://schemas.microsoft.com/office/powerpoint/2010/main" val="13825618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F2FA4C-4E46-F53F-11B5-D807A9AFCBDE}"/>
              </a:ext>
            </a:extLst>
          </p:cNvPr>
          <p:cNvSpPr>
            <a:spLocks noGrp="1"/>
          </p:cNvSpPr>
          <p:nvPr>
            <p:ph idx="1"/>
          </p:nvPr>
        </p:nvSpPr>
        <p:spPr>
          <a:xfrm>
            <a:off x="811530" y="651510"/>
            <a:ext cx="11041380" cy="5669280"/>
          </a:xfrm>
        </p:spPr>
        <p:txBody>
          <a:bodyPr>
            <a:normAutofit lnSpcReduction="10000"/>
          </a:bodyPr>
          <a:lstStyle/>
          <a:p>
            <a:pPr>
              <a:lnSpc>
                <a:spcPct val="150000"/>
              </a:lnSpc>
            </a:pPr>
            <a:r>
              <a:rPr lang="en-US" b="1" dirty="0" err="1"/>
              <a:t>src</a:t>
            </a:r>
            <a:r>
              <a:rPr lang="en-US" b="1" dirty="0"/>
              <a:t>: </a:t>
            </a:r>
            <a:r>
              <a:rPr lang="en-US" dirty="0"/>
              <a:t>Contains the main source code of your Vue.js application. </a:t>
            </a:r>
          </a:p>
          <a:p>
            <a:pPr>
              <a:lnSpc>
                <a:spcPct val="150000"/>
              </a:lnSpc>
            </a:pPr>
            <a:r>
              <a:rPr lang="en-US" b="1" dirty="0"/>
              <a:t>public: </a:t>
            </a:r>
            <a:r>
              <a:rPr lang="en-US" dirty="0"/>
              <a:t>Contains static files that are directly copied to the build output. </a:t>
            </a:r>
          </a:p>
          <a:p>
            <a:pPr>
              <a:lnSpc>
                <a:spcPct val="150000"/>
              </a:lnSpc>
            </a:pPr>
            <a:r>
              <a:rPr lang="en-US" b="1" dirty="0" err="1"/>
              <a:t>node_modules</a:t>
            </a:r>
            <a:r>
              <a:rPr lang="en-US" b="1" dirty="0"/>
              <a:t>: </a:t>
            </a:r>
            <a:r>
              <a:rPr lang="en-US" dirty="0"/>
              <a:t>Contains the dependencies installed via </a:t>
            </a:r>
            <a:r>
              <a:rPr lang="en-US" dirty="0" err="1"/>
              <a:t>npm</a:t>
            </a:r>
            <a:r>
              <a:rPr lang="en-US" dirty="0"/>
              <a:t> or yarn. </a:t>
            </a:r>
          </a:p>
          <a:p>
            <a:pPr>
              <a:lnSpc>
                <a:spcPct val="150000"/>
              </a:lnSpc>
            </a:pPr>
            <a:r>
              <a:rPr lang="en-US" b="1" dirty="0" err="1"/>
              <a:t>package.json</a:t>
            </a:r>
            <a:r>
              <a:rPr lang="en-US" b="1" dirty="0"/>
              <a:t>: </a:t>
            </a:r>
            <a:r>
              <a:rPr lang="en-US" dirty="0"/>
              <a:t>The project configuration file that includes metadata and script commands. 	</a:t>
            </a:r>
          </a:p>
          <a:p>
            <a:pPr marL="0" indent="0">
              <a:lnSpc>
                <a:spcPct val="150000"/>
              </a:lnSpc>
              <a:buNone/>
            </a:pPr>
            <a:r>
              <a:rPr lang="en-US" b="1" dirty="0"/>
              <a:t>Step 5: </a:t>
            </a:r>
            <a:r>
              <a:rPr lang="en-US" dirty="0"/>
              <a:t>Install Dependencies If you've just opened a new Vue.js project or one you haven't worked on before, you'll need to install the project dependencies. 	</a:t>
            </a:r>
          </a:p>
          <a:p>
            <a:pPr marL="0" indent="0">
              <a:lnSpc>
                <a:spcPct val="150000"/>
              </a:lnSpc>
              <a:buNone/>
            </a:pPr>
            <a:endParaRPr lang="en-US" dirty="0"/>
          </a:p>
          <a:p>
            <a:pPr marL="0" indent="0">
              <a:buNone/>
            </a:pPr>
            <a:endParaRPr lang="en-US" dirty="0"/>
          </a:p>
        </p:txBody>
      </p:sp>
    </p:spTree>
    <p:extLst>
      <p:ext uri="{BB962C8B-B14F-4D97-AF65-F5344CB8AC3E}">
        <p14:creationId xmlns:p14="http://schemas.microsoft.com/office/powerpoint/2010/main" val="2552467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D7E3FF-CDE5-662B-9F7C-7359712C6377}"/>
              </a:ext>
            </a:extLst>
          </p:cNvPr>
          <p:cNvSpPr>
            <a:spLocks noGrp="1"/>
          </p:cNvSpPr>
          <p:nvPr>
            <p:ph idx="1"/>
          </p:nvPr>
        </p:nvSpPr>
        <p:spPr>
          <a:xfrm>
            <a:off x="582930" y="617220"/>
            <a:ext cx="11121390" cy="5692140"/>
          </a:xfrm>
        </p:spPr>
        <p:txBody>
          <a:bodyPr>
            <a:normAutofit/>
          </a:bodyPr>
          <a:lstStyle/>
          <a:p>
            <a:pPr marL="0" indent="0">
              <a:lnSpc>
                <a:spcPct val="150000"/>
              </a:lnSpc>
              <a:buNone/>
            </a:pPr>
            <a:r>
              <a:rPr lang="en-US" dirty="0"/>
              <a:t>In the terminal, navigate to your project's root directory and run the following command to install the dependencies: </a:t>
            </a:r>
          </a:p>
          <a:p>
            <a:pPr marL="0" indent="0">
              <a:lnSpc>
                <a:spcPct val="150000"/>
              </a:lnSpc>
              <a:buNone/>
            </a:pPr>
            <a:r>
              <a:rPr lang="en-US" b="1" dirty="0" err="1"/>
              <a:t>npm</a:t>
            </a:r>
            <a:r>
              <a:rPr lang="en-US" b="1" dirty="0"/>
              <a:t> install </a:t>
            </a:r>
            <a:r>
              <a:rPr lang="en-US" dirty="0"/>
              <a:t>	</a:t>
            </a:r>
          </a:p>
          <a:p>
            <a:pPr marL="0" indent="0">
              <a:lnSpc>
                <a:spcPct val="150000"/>
              </a:lnSpc>
              <a:buNone/>
            </a:pPr>
            <a:r>
              <a:rPr lang="en-US" dirty="0"/>
              <a:t>This will read the dependencies listed in the </a:t>
            </a:r>
            <a:r>
              <a:rPr lang="en-US" dirty="0" err="1"/>
              <a:t>package.json</a:t>
            </a:r>
            <a:r>
              <a:rPr lang="en-US" dirty="0"/>
              <a:t> file and download them into the </a:t>
            </a:r>
            <a:r>
              <a:rPr lang="en-US" dirty="0" err="1"/>
              <a:t>node_modules</a:t>
            </a:r>
            <a:r>
              <a:rPr lang="en-US" dirty="0"/>
              <a:t> folder. 	</a:t>
            </a:r>
          </a:p>
          <a:p>
            <a:pPr marL="0" indent="0">
              <a:lnSpc>
                <a:spcPct val="150000"/>
              </a:lnSpc>
              <a:buNone/>
            </a:pPr>
            <a:r>
              <a:rPr lang="en-US" b="1" dirty="0"/>
              <a:t>Step 6: </a:t>
            </a:r>
            <a:r>
              <a:rPr lang="en-US" dirty="0"/>
              <a:t>Start Development Once the dependencies are installed, you can start working on your Vue.js project in VS Code. You can edit the files, create or modify components, and manage the project structure. 	</a:t>
            </a:r>
          </a:p>
          <a:p>
            <a:pPr marL="0" indent="0">
              <a:buNone/>
            </a:pPr>
            <a:endParaRPr lang="en-US" dirty="0"/>
          </a:p>
        </p:txBody>
      </p:sp>
    </p:spTree>
    <p:extLst>
      <p:ext uri="{BB962C8B-B14F-4D97-AF65-F5344CB8AC3E}">
        <p14:creationId xmlns:p14="http://schemas.microsoft.com/office/powerpoint/2010/main" val="195640569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CCBC5B-78C6-825E-65CC-9E0648FB7475}"/>
              </a:ext>
            </a:extLst>
          </p:cNvPr>
          <p:cNvSpPr>
            <a:spLocks noGrp="1"/>
          </p:cNvSpPr>
          <p:nvPr>
            <p:ph idx="1"/>
          </p:nvPr>
        </p:nvSpPr>
        <p:spPr>
          <a:xfrm>
            <a:off x="628650" y="434340"/>
            <a:ext cx="10725150" cy="5742623"/>
          </a:xfrm>
        </p:spPr>
        <p:txBody>
          <a:bodyPr/>
          <a:lstStyle/>
          <a:p>
            <a:pPr marL="0" indent="0">
              <a:lnSpc>
                <a:spcPct val="150000"/>
              </a:lnSpc>
              <a:buNone/>
            </a:pPr>
            <a:r>
              <a:rPr lang="en-US" dirty="0"/>
              <a:t>To start the development server and see your changes in the browser, open a terminal in VS Code and run the following command: </a:t>
            </a:r>
          </a:p>
          <a:p>
            <a:pPr marL="0" indent="0">
              <a:lnSpc>
                <a:spcPct val="150000"/>
              </a:lnSpc>
              <a:buNone/>
            </a:pPr>
            <a:r>
              <a:rPr lang="en-US" b="1" dirty="0" err="1"/>
              <a:t>npm</a:t>
            </a:r>
            <a:r>
              <a:rPr lang="en-US" b="1" dirty="0"/>
              <a:t> run serve </a:t>
            </a:r>
            <a:r>
              <a:rPr lang="en-US" dirty="0"/>
              <a:t>	</a:t>
            </a:r>
          </a:p>
          <a:p>
            <a:pPr marL="0" indent="0">
              <a:buNone/>
            </a:pPr>
            <a:r>
              <a:rPr lang="en-US" dirty="0"/>
              <a:t>To explore the </a:t>
            </a:r>
            <a:r>
              <a:rPr lang="en-US" dirty="0" err="1"/>
              <a:t>App.vue</a:t>
            </a:r>
            <a:r>
              <a:rPr lang="en-US" dirty="0"/>
              <a:t> file in a Vue.js project, </a:t>
            </a:r>
          </a:p>
          <a:p>
            <a:pPr marL="0" indent="0">
              <a:buNone/>
            </a:pPr>
            <a:r>
              <a:rPr lang="en-US" dirty="0"/>
              <a:t> You can follow these steps: </a:t>
            </a:r>
          </a:p>
          <a:p>
            <a:pPr marL="0" indent="0">
              <a:buNone/>
            </a:pPr>
            <a:r>
              <a:rPr lang="en-US" b="1" dirty="0"/>
              <a:t>1.Open the </a:t>
            </a:r>
            <a:r>
              <a:rPr lang="en-US" b="1" dirty="0" err="1"/>
              <a:t>App.vue</a:t>
            </a:r>
            <a:r>
              <a:rPr lang="en-US" b="1" dirty="0"/>
              <a:t> file: 	</a:t>
            </a:r>
          </a:p>
          <a:p>
            <a:pPr marL="0" indent="0">
              <a:buNone/>
            </a:pPr>
            <a:endParaRPr lang="en-US" dirty="0"/>
          </a:p>
        </p:txBody>
      </p:sp>
    </p:spTree>
    <p:extLst>
      <p:ext uri="{BB962C8B-B14F-4D97-AF65-F5344CB8AC3E}">
        <p14:creationId xmlns:p14="http://schemas.microsoft.com/office/powerpoint/2010/main" val="3523074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1175</TotalTime>
  <Words>6073</Words>
  <Application>Microsoft Office PowerPoint</Application>
  <PresentationFormat>Widescreen</PresentationFormat>
  <Paragraphs>346</Paragraphs>
  <Slides>78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78</vt:i4>
      </vt:variant>
    </vt:vector>
  </HeadingPairs>
  <TitlesOfParts>
    <vt:vector size="82" baseType="lpstr">
      <vt:lpstr>Arial</vt:lpstr>
      <vt:lpstr>Calibri</vt:lpstr>
      <vt:lpstr>Calibri Light</vt:lpstr>
      <vt:lpstr>Office Theme</vt:lpstr>
      <vt:lpstr>SWDVF301: Vue.js Framework</vt:lpstr>
      <vt:lpstr>Learning Outcome 1: Set Up Environment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13</cp:revision>
  <dcterms:created xsi:type="dcterms:W3CDTF">2026-01-19T08:48:38Z</dcterms:created>
  <dcterms:modified xsi:type="dcterms:W3CDTF">2026-03-05T06:20:32Z</dcterms:modified>
</cp:coreProperties>
</file>